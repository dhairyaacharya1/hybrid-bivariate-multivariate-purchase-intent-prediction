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58"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C2CD-2EA3-7986-F111-D8E1B1436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A2D36D-3D44-3314-48DB-5A969C7253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B3373B-5342-C91D-2212-3CAE634A6EFC}"/>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0F666D15-65AC-A833-FA5F-ED3DDCE68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56F2D6-F0F4-4A9E-8877-CF8BFFC3AB90}"/>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4175635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9025-0C4A-80E9-92AC-431E1E78FF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6794E0-2AC8-6ACE-8586-AD29392F55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9F92D-3092-262A-2371-FE638303B63F}"/>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E65DD435-A449-1117-E72E-111556FE5E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94D76-2FE4-73D5-BAE5-677C06129165}"/>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206256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8F3F7-CAAB-21A5-3B4E-E23896E0FC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8C8037-840E-8FAC-50F9-657216A327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37B679-2C51-6064-2AD7-F360241568D2}"/>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5496C79C-B662-0CAD-40BB-E5A9CDD24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97BF92-B01F-5133-928D-7560F0393422}"/>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1657935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A84A-A0C9-7F2A-450A-35ABF50C81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01DEF7-2106-2FF6-5BB8-5C4289224B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D73EB6-29EA-D0DC-5ADA-CDE280F106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8C4F15-FEC2-5BEC-8A2A-5423400F7D08}"/>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6" name="Footer Placeholder 5">
            <a:extLst>
              <a:ext uri="{FF2B5EF4-FFF2-40B4-BE49-F238E27FC236}">
                <a16:creationId xmlns:a16="http://schemas.microsoft.com/office/drawing/2014/main" id="{C9050DD5-384F-0EB6-4E98-D69BBADA7A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DCA153-46B1-6D11-008D-D9E80F62B905}"/>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965122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0919-465E-AC9D-08A3-C8DC69F152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F16EF-394D-29BD-FE8F-625A9A5A1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D9A0B8-F51A-919E-799D-FC214E4522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86FF10-A980-EBC4-656B-0E00358CF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0C21BD-45BA-0D1B-D229-D54FF77DFA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AFE81A-973B-0BB9-7232-1DFC246B9A92}"/>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8" name="Footer Placeholder 7">
            <a:extLst>
              <a:ext uri="{FF2B5EF4-FFF2-40B4-BE49-F238E27FC236}">
                <a16:creationId xmlns:a16="http://schemas.microsoft.com/office/drawing/2014/main" id="{F6E25D2B-175C-1F2E-6E7D-BD765F3842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6B5DE3-8BC7-A6E6-7A81-90BDB68266A4}"/>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3213636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005F-E9DF-CD4C-8078-124D45D53B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658AA0-AFB3-3A34-5605-463E30D119C8}"/>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4" name="Footer Placeholder 3">
            <a:extLst>
              <a:ext uri="{FF2B5EF4-FFF2-40B4-BE49-F238E27FC236}">
                <a16:creationId xmlns:a16="http://schemas.microsoft.com/office/drawing/2014/main" id="{19EBD330-74FC-06C7-AAE1-885717593F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FEF646-82F9-A925-D2DA-8193E90CA0C4}"/>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40264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9B5F5-022C-3291-8DDE-9F3A7C913692}"/>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3" name="Footer Placeholder 2">
            <a:extLst>
              <a:ext uri="{FF2B5EF4-FFF2-40B4-BE49-F238E27FC236}">
                <a16:creationId xmlns:a16="http://schemas.microsoft.com/office/drawing/2014/main" id="{44B0FF35-7F7F-B87A-DAE6-FF489382A84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497EFC-41BC-28D8-9663-449F31D63DFB}"/>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73954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A6DA-ECA2-90A3-0F3C-9D2E748D6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2A7CCD-A119-DF1E-8284-972DA6D2DC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4CE4F5-32F2-F90E-4603-6DBB0D571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F1B477-1C38-F9BF-96F6-DAFD3F44BEB7}"/>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6" name="Footer Placeholder 5">
            <a:extLst>
              <a:ext uri="{FF2B5EF4-FFF2-40B4-BE49-F238E27FC236}">
                <a16:creationId xmlns:a16="http://schemas.microsoft.com/office/drawing/2014/main" id="{33B86954-2A20-7922-0520-63D6E0058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7327CC-660C-CBFF-2DA3-24AE426DB0C1}"/>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3377930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5B9CB-F88D-87C9-983D-8C5A25ACA5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22F28D-28D8-45E7-76BD-15193A4864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FC1D66-AD64-1ABB-AB23-44FCF73F3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684A85-6238-A2BB-E499-90BD67795330}"/>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6" name="Footer Placeholder 5">
            <a:extLst>
              <a:ext uri="{FF2B5EF4-FFF2-40B4-BE49-F238E27FC236}">
                <a16:creationId xmlns:a16="http://schemas.microsoft.com/office/drawing/2014/main" id="{A29BEBA7-5907-622A-6B7A-3352FAEB77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84A1C3-1E2F-4274-CB63-778A0E2F333F}"/>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1436985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A0F9-0C74-ABE1-625F-054186D623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2726D9-16EE-859C-AC45-F195BB558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3E08B0-075A-40E5-858F-DE6A5838DAE2}"/>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E9373A1E-8332-44BD-0EF2-242AAA1326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F8047D-58A9-B05C-83CE-89FD1C6FDC6E}"/>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3159633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E6BA8-0E3E-42D8-B8BE-67165938B8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7B2FAF-4371-B277-7055-D09A516A26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A7BD8-EF7B-FF15-BED2-DC62DB3AED0E}"/>
              </a:ext>
            </a:extLst>
          </p:cNvPr>
          <p:cNvSpPr>
            <a:spLocks noGrp="1"/>
          </p:cNvSpPr>
          <p:nvPr>
            <p:ph type="dt" sz="half" idx="10"/>
          </p:nvPr>
        </p:nvSpPr>
        <p:spPr/>
        <p:txBody>
          <a:body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723706FF-3385-2014-3564-484A096351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FAB171-B8FF-6170-420F-75F68D9DE29F}"/>
              </a:ext>
            </a:extLst>
          </p:cNvPr>
          <p:cNvSpPr>
            <a:spLocks noGrp="1"/>
          </p:cNvSpPr>
          <p:nvPr>
            <p:ph type="sldNum" sz="quarter" idx="12"/>
          </p:nvPr>
        </p:nvSpPr>
        <p:spPr/>
        <p:txBody>
          <a:bodyPr/>
          <a:lstStyle/>
          <a:p>
            <a:fld id="{A7F71B7C-B7D3-4983-908B-844AE0A6416C}" type="slidenum">
              <a:rPr lang="en-IN" smtClean="0"/>
              <a:t>‹#›</a:t>
            </a:fld>
            <a:endParaRPr lang="en-IN"/>
          </a:p>
        </p:txBody>
      </p:sp>
    </p:spTree>
    <p:extLst>
      <p:ext uri="{BB962C8B-B14F-4D97-AF65-F5344CB8AC3E}">
        <p14:creationId xmlns:p14="http://schemas.microsoft.com/office/powerpoint/2010/main" val="3707494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2DA02-0CD7-3365-CB51-2E1A37818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E1DCD8-F94B-A3EF-87F1-C2B7D3CD70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1E6EE-9165-B47E-5BC0-290DC6683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61BB3-3914-41CE-8B82-588A803F8066}" type="datetimeFigureOut">
              <a:rPr lang="en-IN" smtClean="0"/>
              <a:t>24-03-2026</a:t>
            </a:fld>
            <a:endParaRPr lang="en-IN"/>
          </a:p>
        </p:txBody>
      </p:sp>
      <p:sp>
        <p:nvSpPr>
          <p:cNvPr id="5" name="Footer Placeholder 4">
            <a:extLst>
              <a:ext uri="{FF2B5EF4-FFF2-40B4-BE49-F238E27FC236}">
                <a16:creationId xmlns:a16="http://schemas.microsoft.com/office/drawing/2014/main" id="{D5142FBB-3898-FD4C-3AB1-3F06C0F5DC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3B0C32-88E0-2969-2361-9B15799A89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F71B7C-B7D3-4983-908B-844AE0A6416C}" type="slidenum">
              <a:rPr lang="en-IN" smtClean="0"/>
              <a:t>‹#›</a:t>
            </a:fld>
            <a:endParaRPr lang="en-IN"/>
          </a:p>
        </p:txBody>
      </p:sp>
    </p:spTree>
    <p:extLst>
      <p:ext uri="{BB962C8B-B14F-4D97-AF65-F5344CB8AC3E}">
        <p14:creationId xmlns:p14="http://schemas.microsoft.com/office/powerpoint/2010/main" val="2699344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F1AAF-3D1D-3424-2C36-ABF6ABCB8473}"/>
              </a:ext>
            </a:extLst>
          </p:cNvPr>
          <p:cNvSpPr>
            <a:spLocks noGrp="1"/>
          </p:cNvSpPr>
          <p:nvPr>
            <p:ph type="ctrTitle"/>
          </p:nvPr>
        </p:nvSpPr>
        <p:spPr>
          <a:xfrm>
            <a:off x="0" y="2203011"/>
            <a:ext cx="12192000" cy="2764572"/>
          </a:xfrm>
        </p:spPr>
        <p:txBody>
          <a:bodyPr>
            <a:noAutofit/>
          </a:bodyPr>
          <a:lstStyle/>
          <a:p>
            <a:r>
              <a:rPr lang="en-IN" sz="2600" b="1" dirty="0">
                <a:latin typeface="Times New Roman" panose="02020603050405020304" pitchFamily="18" charset="0"/>
                <a:cs typeface="Times New Roman" panose="02020603050405020304" pitchFamily="18" charset="0"/>
              </a:rPr>
              <a:t>Acharya Dhairya Bharat (AIML 01)</a:t>
            </a:r>
            <a:br>
              <a:rPr lang="en-IN" sz="2600" b="1" dirty="0">
                <a:latin typeface="Times New Roman" panose="02020603050405020304" pitchFamily="18" charset="0"/>
                <a:cs typeface="Times New Roman" panose="02020603050405020304" pitchFamily="18" charset="0"/>
              </a:rPr>
            </a:br>
            <a:r>
              <a:rPr lang="en-IN" sz="2600" dirty="0" err="1">
                <a:latin typeface="Times New Roman" panose="02020603050405020304" pitchFamily="18" charset="0"/>
                <a:cs typeface="Times New Roman" panose="02020603050405020304" pitchFamily="18" charset="0"/>
              </a:rPr>
              <a:t>Enrollment</a:t>
            </a:r>
            <a:r>
              <a:rPr lang="en-IN" sz="2600" dirty="0">
                <a:latin typeface="Times New Roman" panose="02020603050405020304" pitchFamily="18" charset="0"/>
                <a:cs typeface="Times New Roman" panose="02020603050405020304" pitchFamily="18" charset="0"/>
              </a:rPr>
              <a:t> No.:</a:t>
            </a:r>
            <a:br>
              <a:rPr lang="en-IN" sz="2600" b="1" dirty="0">
                <a:latin typeface="Times New Roman" panose="02020603050405020304" pitchFamily="18" charset="0"/>
                <a:cs typeface="Times New Roman" panose="02020603050405020304" pitchFamily="18" charset="0"/>
              </a:rPr>
            </a:br>
            <a:r>
              <a:rPr lang="en-IN" sz="2600" b="1" dirty="0">
                <a:latin typeface="Times New Roman" panose="02020603050405020304" pitchFamily="18" charset="0"/>
                <a:cs typeface="Times New Roman" panose="02020603050405020304" pitchFamily="18" charset="0"/>
              </a:rPr>
              <a:t>Patel Prachi </a:t>
            </a:r>
            <a:r>
              <a:rPr lang="en-IN" sz="2600" b="1" dirty="0" err="1">
                <a:latin typeface="Times New Roman" panose="02020603050405020304" pitchFamily="18" charset="0"/>
                <a:cs typeface="Times New Roman" panose="02020603050405020304" pitchFamily="18" charset="0"/>
              </a:rPr>
              <a:t>Vinodbhai</a:t>
            </a:r>
            <a:r>
              <a:rPr lang="en-IN" sz="2600" b="1" dirty="0">
                <a:latin typeface="Times New Roman" panose="02020603050405020304" pitchFamily="18" charset="0"/>
                <a:cs typeface="Times New Roman" panose="02020603050405020304" pitchFamily="18" charset="0"/>
              </a:rPr>
              <a:t> (DS 29)</a:t>
            </a:r>
            <a:br>
              <a:rPr lang="en-IN" sz="2600" b="1" dirty="0">
                <a:latin typeface="Times New Roman" panose="02020603050405020304" pitchFamily="18" charset="0"/>
                <a:cs typeface="Times New Roman" panose="02020603050405020304" pitchFamily="18" charset="0"/>
              </a:rPr>
            </a:br>
            <a:r>
              <a:rPr lang="en-IN" sz="2600" dirty="0" err="1">
                <a:latin typeface="Times New Roman" panose="02020603050405020304" pitchFamily="18" charset="0"/>
                <a:cs typeface="Times New Roman" panose="02020603050405020304" pitchFamily="18" charset="0"/>
              </a:rPr>
              <a:t>Enrollment</a:t>
            </a:r>
            <a:r>
              <a:rPr lang="en-IN" sz="2600" dirty="0">
                <a:latin typeface="Times New Roman" panose="02020603050405020304" pitchFamily="18" charset="0"/>
                <a:cs typeface="Times New Roman" panose="02020603050405020304" pitchFamily="18" charset="0"/>
              </a:rPr>
              <a:t> No.:</a:t>
            </a:r>
            <a:br>
              <a:rPr lang="en-IN" sz="2600" dirty="0">
                <a:latin typeface="Times New Roman" panose="02020603050405020304" pitchFamily="18" charset="0"/>
                <a:cs typeface="Times New Roman" panose="02020603050405020304" pitchFamily="18" charset="0"/>
              </a:rPr>
            </a:b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Under the guidance of</a:t>
            </a:r>
            <a:br>
              <a:rPr lang="en-IN" sz="2600" dirty="0">
                <a:latin typeface="Times New Roman" panose="02020603050405020304" pitchFamily="18" charset="0"/>
                <a:cs typeface="Times New Roman" panose="02020603050405020304" pitchFamily="18" charset="0"/>
              </a:rPr>
            </a:br>
            <a:r>
              <a:rPr lang="en-IN" sz="2600" b="1" u="sng" dirty="0">
                <a:latin typeface="Times New Roman" panose="02020603050405020304" pitchFamily="18" charset="0"/>
                <a:cs typeface="Times New Roman" panose="02020603050405020304" pitchFamily="18" charset="0"/>
              </a:rPr>
              <a:t>Prof. Dr. Vaidehi Mehta</a:t>
            </a:r>
            <a:br>
              <a:rPr lang="en-IN" sz="2600" b="1"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Submitted to</a:t>
            </a:r>
            <a:endParaRPr lang="en-IN" sz="2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BEDA5BF-E7C0-C6B3-F399-E36BFF729F2D}"/>
              </a:ext>
            </a:extLst>
          </p:cNvPr>
          <p:cNvSpPr>
            <a:spLocks noGrp="1"/>
          </p:cNvSpPr>
          <p:nvPr>
            <p:ph type="subTitle" idx="1"/>
          </p:nvPr>
        </p:nvSpPr>
        <p:spPr>
          <a:xfrm>
            <a:off x="0" y="4992260"/>
            <a:ext cx="12192000" cy="1865740"/>
          </a:xfrm>
        </p:spPr>
        <p:txBody>
          <a:bodyPr>
            <a:normAutofit/>
          </a:bodyPr>
          <a:lstStyle/>
          <a:p>
            <a:r>
              <a:rPr lang="en-IN" b="1" dirty="0">
                <a:latin typeface="Times New Roman" panose="02020603050405020304" pitchFamily="18" charset="0"/>
                <a:cs typeface="Times New Roman" panose="02020603050405020304" pitchFamily="18" charset="0"/>
              </a:rPr>
              <a:t>Department of AIML/DS</a:t>
            </a:r>
          </a:p>
          <a:p>
            <a:r>
              <a:rPr lang="en-IN" b="1" dirty="0">
                <a:latin typeface="Times New Roman" panose="02020603050405020304" pitchFamily="18" charset="0"/>
                <a:cs typeface="Times New Roman" panose="02020603050405020304" pitchFamily="18" charset="0"/>
              </a:rPr>
              <a:t>School Of Emerging Science And Technology</a:t>
            </a:r>
          </a:p>
          <a:p>
            <a:r>
              <a:rPr lang="en-IN" b="1" dirty="0">
                <a:latin typeface="Times New Roman" panose="02020603050405020304" pitchFamily="18" charset="0"/>
                <a:cs typeface="Times New Roman" panose="02020603050405020304" pitchFamily="18" charset="0"/>
              </a:rPr>
              <a:t>Gujarat University</a:t>
            </a:r>
          </a:p>
          <a:p>
            <a:r>
              <a:rPr lang="en-IN" dirty="0">
                <a:latin typeface="Times New Roman" panose="02020603050405020304" pitchFamily="18" charset="0"/>
                <a:cs typeface="Times New Roman" panose="02020603050405020304" pitchFamily="18" charset="0"/>
              </a:rPr>
              <a:t>March, 2026</a:t>
            </a:r>
          </a:p>
        </p:txBody>
      </p:sp>
      <p:pic>
        <p:nvPicPr>
          <p:cNvPr id="4" name="Content Placeholder 5" descr="A logo with a peacock and text&#10;&#10;Description automatically generated">
            <a:extLst>
              <a:ext uri="{FF2B5EF4-FFF2-40B4-BE49-F238E27FC236}">
                <a16:creationId xmlns:a16="http://schemas.microsoft.com/office/drawing/2014/main" id="{7D7E9230-7F97-0E59-F463-97F74E67CDEA}"/>
              </a:ext>
            </a:extLst>
          </p:cNvPr>
          <p:cNvPicPr>
            <a:picLocks noChangeAspect="1"/>
          </p:cNvPicPr>
          <p:nvPr/>
        </p:nvPicPr>
        <p:blipFill>
          <a:blip r:embed="rId2"/>
          <a:stretch>
            <a:fillRect/>
          </a:stretch>
        </p:blipFill>
        <p:spPr>
          <a:xfrm>
            <a:off x="943897" y="3727860"/>
            <a:ext cx="1584961" cy="1682972"/>
          </a:xfrm>
          <a:prstGeom prst="rect">
            <a:avLst/>
          </a:prstGeom>
        </p:spPr>
      </p:pic>
      <p:pic>
        <p:nvPicPr>
          <p:cNvPr id="5" name="Picture 4">
            <a:extLst>
              <a:ext uri="{FF2B5EF4-FFF2-40B4-BE49-F238E27FC236}">
                <a16:creationId xmlns:a16="http://schemas.microsoft.com/office/drawing/2014/main" id="{45BC6641-5BE7-E5CD-D152-CDCD413BA4A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937096" y="3841413"/>
            <a:ext cx="1585231" cy="1455865"/>
          </a:xfrm>
          <a:prstGeom prst="rect">
            <a:avLst/>
          </a:prstGeom>
        </p:spPr>
      </p:pic>
      <p:sp>
        <p:nvSpPr>
          <p:cNvPr id="6" name="TextBox 5">
            <a:extLst>
              <a:ext uri="{FF2B5EF4-FFF2-40B4-BE49-F238E27FC236}">
                <a16:creationId xmlns:a16="http://schemas.microsoft.com/office/drawing/2014/main" id="{37CA75C3-E92E-C6CE-CBCE-55CD06E52E85}"/>
              </a:ext>
            </a:extLst>
          </p:cNvPr>
          <p:cNvSpPr txBox="1"/>
          <p:nvPr/>
        </p:nvSpPr>
        <p:spPr>
          <a:xfrm>
            <a:off x="0" y="0"/>
            <a:ext cx="12192000" cy="2092881"/>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Bivariate–Multivariate Hybrid Models for Purchase Intent Prediction</a:t>
            </a:r>
          </a:p>
          <a:p>
            <a:pPr algn="ctr"/>
            <a:r>
              <a:rPr lang="en-US" sz="2600" b="1" dirty="0">
                <a:latin typeface="Times New Roman" panose="02020603050405020304" pitchFamily="18" charset="0"/>
                <a:cs typeface="Times New Roman" panose="02020603050405020304" pitchFamily="18" charset="0"/>
              </a:rPr>
              <a:t>CC-416 PROJECT</a:t>
            </a:r>
          </a:p>
          <a:p>
            <a:pPr algn="ctr"/>
            <a:r>
              <a:rPr lang="en-US" sz="2600" dirty="0">
                <a:latin typeface="Times New Roman" panose="02020603050405020304" pitchFamily="18" charset="0"/>
                <a:cs typeface="Times New Roman" panose="02020603050405020304" pitchFamily="18" charset="0"/>
              </a:rPr>
              <a:t>Project for</a:t>
            </a:r>
          </a:p>
          <a:p>
            <a:pPr algn="ctr"/>
            <a:r>
              <a:rPr lang="en-US" sz="2600" b="1" dirty="0">
                <a:latin typeface="Times New Roman" panose="02020603050405020304" pitchFamily="18" charset="0"/>
                <a:cs typeface="Times New Roman" panose="02020603050405020304" pitchFamily="18" charset="0"/>
              </a:rPr>
              <a:t>MSc(Integrated</a:t>
            </a:r>
            <a:r>
              <a:rPr lang="en-IN" sz="2600" b="1" dirty="0">
                <a:latin typeface="Times New Roman" panose="02020603050405020304" pitchFamily="18" charset="0"/>
                <a:cs typeface="Times New Roman" panose="02020603050405020304" pitchFamily="18" charset="0"/>
              </a:rPr>
              <a:t>) AIML/DS Sem-8</a:t>
            </a:r>
          </a:p>
          <a:p>
            <a:pPr algn="ctr"/>
            <a:r>
              <a:rPr lang="en-US" sz="2400" dirty="0">
                <a:latin typeface="Times New Roman" panose="02020603050405020304" pitchFamily="18" charset="0"/>
                <a:cs typeface="Times New Roman" panose="02020603050405020304" pitchFamily="18" charset="0"/>
              </a:rPr>
              <a:t>By</a:t>
            </a:r>
          </a:p>
        </p:txBody>
      </p:sp>
    </p:spTree>
    <p:extLst>
      <p:ext uri="{BB962C8B-B14F-4D97-AF65-F5344CB8AC3E}">
        <p14:creationId xmlns:p14="http://schemas.microsoft.com/office/powerpoint/2010/main" val="1063706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1080-F0D6-08F3-8AFB-6B3AEBA74B16}"/>
              </a:ext>
            </a:extLst>
          </p:cNvPr>
          <p:cNvSpPr>
            <a:spLocks noGrp="1"/>
          </p:cNvSpPr>
          <p:nvPr>
            <p:ph type="ctrTitle"/>
          </p:nvPr>
        </p:nvSpPr>
        <p:spPr>
          <a:xfrm>
            <a:off x="0" y="0"/>
            <a:ext cx="12192000" cy="3509963"/>
          </a:xfrm>
        </p:spPr>
        <p:txBody>
          <a:bodyPr>
            <a:normAutofit/>
          </a:bodyPr>
          <a:lstStyle/>
          <a:p>
            <a:r>
              <a:rPr lang="en-US" sz="4600" b="1" dirty="0">
                <a:latin typeface="Times New Roman" panose="02020603050405020304" pitchFamily="18" charset="0"/>
                <a:cs typeface="Times New Roman" panose="02020603050405020304" pitchFamily="18" charset="0"/>
              </a:rPr>
              <a:t>Bivariate–Multivariate Hybrid Models for Purchase Intent Prediction</a:t>
            </a:r>
            <a:endParaRPr lang="en-IN" sz="4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FC53BA3-A89E-7B49-8FA3-AC6753648164}"/>
              </a:ext>
            </a:extLst>
          </p:cNvPr>
          <p:cNvSpPr>
            <a:spLocks noGrp="1"/>
          </p:cNvSpPr>
          <p:nvPr>
            <p:ph type="subTitle" idx="1"/>
          </p:nvPr>
        </p:nvSpPr>
        <p:spPr>
          <a:xfrm>
            <a:off x="0" y="3509963"/>
            <a:ext cx="12192000" cy="3348037"/>
          </a:xfrm>
        </p:spPr>
        <p:txBody>
          <a:bodyPr/>
          <a:lstStyle/>
          <a:p>
            <a:endParaRPr lang="en-IN" dirty="0"/>
          </a:p>
        </p:txBody>
      </p:sp>
      <p:pic>
        <p:nvPicPr>
          <p:cNvPr id="5" name="Picture 4">
            <a:extLst>
              <a:ext uri="{FF2B5EF4-FFF2-40B4-BE49-F238E27FC236}">
                <a16:creationId xmlns:a16="http://schemas.microsoft.com/office/drawing/2014/main" id="{086036A3-0DA6-9C06-EDC8-FF8C90EC9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8755" y="3509962"/>
            <a:ext cx="4133245" cy="3348038"/>
          </a:xfrm>
          <a:prstGeom prst="rect">
            <a:avLst/>
          </a:prstGeom>
        </p:spPr>
      </p:pic>
      <p:pic>
        <p:nvPicPr>
          <p:cNvPr id="7" name="Picture 6">
            <a:extLst>
              <a:ext uri="{FF2B5EF4-FFF2-40B4-BE49-F238E27FC236}">
                <a16:creationId xmlns:a16="http://schemas.microsoft.com/office/drawing/2014/main" id="{9971B390-047A-D4B1-9C72-2F27D0E7E2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0203"/>
            <a:ext cx="6096000" cy="2666593"/>
          </a:xfrm>
          <a:prstGeom prst="rect">
            <a:avLst/>
          </a:prstGeom>
        </p:spPr>
      </p:pic>
    </p:spTree>
    <p:extLst>
      <p:ext uri="{BB962C8B-B14F-4D97-AF65-F5344CB8AC3E}">
        <p14:creationId xmlns:p14="http://schemas.microsoft.com/office/powerpoint/2010/main" val="2169549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E04C-D692-93E3-4406-9976AA29EDC1}"/>
              </a:ext>
            </a:extLst>
          </p:cNvPr>
          <p:cNvSpPr>
            <a:spLocks noGrp="1"/>
          </p:cNvSpPr>
          <p:nvPr>
            <p:ph type="title"/>
          </p:nvPr>
        </p:nvSpPr>
        <p:spPr>
          <a:xfrm>
            <a:off x="22123" y="18255"/>
            <a:ext cx="12169877" cy="1325563"/>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2AC4C41-BC20-15C6-77E0-14996D92520F}"/>
              </a:ext>
            </a:extLst>
          </p:cNvPr>
          <p:cNvSpPr>
            <a:spLocks noGrp="1"/>
          </p:cNvSpPr>
          <p:nvPr>
            <p:ph idx="1"/>
          </p:nvPr>
        </p:nvSpPr>
        <p:spPr>
          <a:xfrm>
            <a:off x="22123" y="1343817"/>
            <a:ext cx="12147754" cy="5495927"/>
          </a:xfrm>
        </p:spPr>
        <p:txBody>
          <a:bodyPr>
            <a:normAutofit fontScale="92500" lnSpcReduction="10000"/>
          </a:bodyPr>
          <a:lstStyle/>
          <a:p>
            <a:pPr algn="just"/>
            <a:r>
              <a:rPr lang="en-US" sz="3200" dirty="0">
                <a:latin typeface="Times New Roman" panose="02020603050405020304" pitchFamily="18" charset="0"/>
                <a:cs typeface="Times New Roman" panose="02020603050405020304" pitchFamily="18" charset="0"/>
              </a:rPr>
              <a:t>Purchase-intent prediction is useful for improving recommendations and marketing in e-commerce.</a:t>
            </a:r>
          </a:p>
          <a:p>
            <a:pPr algn="just"/>
            <a:r>
              <a:rPr lang="en-US" sz="3200" dirty="0">
                <a:latin typeface="Times New Roman" panose="02020603050405020304" pitchFamily="18" charset="0"/>
                <a:cs typeface="Times New Roman" panose="02020603050405020304" pitchFamily="18" charset="0"/>
              </a:rPr>
              <a:t>Understanding whether a user is likely to buy a product based on their online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helps e-commerce platforms personalize their recommendations.</a:t>
            </a:r>
          </a:p>
          <a:p>
            <a:pPr algn="just"/>
            <a:r>
              <a:rPr lang="en-US" sz="3200" dirty="0">
                <a:latin typeface="Times New Roman" panose="02020603050405020304" pitchFamily="18" charset="0"/>
                <a:cs typeface="Times New Roman" panose="02020603050405020304" pitchFamily="18" charset="0"/>
              </a:rPr>
              <a:t>This project uses Bivariate–Multivariate Hybrid Models, the bivariate part captures direct relationships, such as user preferences for certain items, while the multivariate part identifies deeper trends.</a:t>
            </a:r>
          </a:p>
          <a:p>
            <a:pPr algn="just"/>
            <a:r>
              <a:rPr lang="en-US" sz="3200" dirty="0">
                <a:latin typeface="Times New Roman" panose="02020603050405020304" pitchFamily="18" charset="0"/>
                <a:cs typeface="Times New Roman" panose="02020603050405020304" pitchFamily="18" charset="0"/>
              </a:rPr>
              <a:t>Using models like Factorization Machines, </a:t>
            </a:r>
            <a:r>
              <a:rPr lang="en-US" sz="3200" dirty="0" err="1">
                <a:latin typeface="Times New Roman" panose="02020603050405020304" pitchFamily="18" charset="0"/>
                <a:cs typeface="Times New Roman" panose="02020603050405020304" pitchFamily="18" charset="0"/>
              </a:rPr>
              <a:t>DeepFM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xDeepFM</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AutoInt</a:t>
            </a:r>
            <a:r>
              <a:rPr lang="en-US" sz="3200" dirty="0">
                <a:latin typeface="Times New Roman" panose="02020603050405020304" pitchFamily="18" charset="0"/>
                <a:cs typeface="Times New Roman" panose="02020603050405020304" pitchFamily="18" charset="0"/>
              </a:rPr>
              <a:t> help capture both simple and complex relationships in clickstream data.</a:t>
            </a:r>
          </a:p>
          <a:p>
            <a:pPr algn="just"/>
            <a:r>
              <a:rPr lang="en-US" sz="3200" dirty="0">
                <a:latin typeface="Times New Roman" panose="02020603050405020304" pitchFamily="18" charset="0"/>
                <a:cs typeface="Times New Roman" panose="02020603050405020304" pitchFamily="18" charset="0"/>
              </a:rPr>
              <a:t>Our results show that hybrid models give better accuracy than basic methods and provide useful insights into what factors influence purchase decisions.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1356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78865-4B48-33C4-F49E-376B6BE4B816}"/>
              </a:ext>
            </a:extLst>
          </p:cNvPr>
          <p:cNvSpPr>
            <a:spLocks noGrp="1"/>
          </p:cNvSpPr>
          <p:nvPr>
            <p:ph type="title"/>
          </p:nvPr>
        </p:nvSpPr>
        <p:spPr>
          <a:xfrm>
            <a:off x="9832" y="18255"/>
            <a:ext cx="12182168" cy="1325563"/>
          </a:xfrm>
        </p:spPr>
        <p:txBody>
          <a:bodyPr/>
          <a:lstStyle/>
          <a:p>
            <a:pPr algn="just"/>
            <a:r>
              <a:rPr lang="en-IN" b="1" dirty="0">
                <a:latin typeface="Times New Roman" panose="02020603050405020304" pitchFamily="18" charset="0"/>
                <a:cs typeface="Times New Roman" panose="02020603050405020304" pitchFamily="18" charset="0"/>
              </a:rPr>
              <a:t>Keywords</a:t>
            </a:r>
          </a:p>
        </p:txBody>
      </p:sp>
      <p:sp>
        <p:nvSpPr>
          <p:cNvPr id="3" name="Content Placeholder 2">
            <a:extLst>
              <a:ext uri="{FF2B5EF4-FFF2-40B4-BE49-F238E27FC236}">
                <a16:creationId xmlns:a16="http://schemas.microsoft.com/office/drawing/2014/main" id="{909E4EBE-E913-7324-6A0D-04A7C6B93125}"/>
              </a:ext>
            </a:extLst>
          </p:cNvPr>
          <p:cNvSpPr>
            <a:spLocks noGrp="1"/>
          </p:cNvSpPr>
          <p:nvPr>
            <p:ph idx="1"/>
          </p:nvPr>
        </p:nvSpPr>
        <p:spPr>
          <a:xfrm>
            <a:off x="9832" y="1343817"/>
            <a:ext cx="12172336" cy="5495927"/>
          </a:xfrm>
        </p:spPr>
        <p:txBody>
          <a:bodyPr>
            <a:normAutofit/>
          </a:bodyPr>
          <a:lstStyle/>
          <a:p>
            <a:pPr lvl="0" algn="just"/>
            <a:r>
              <a:rPr lang="en-US" sz="3000" dirty="0">
                <a:latin typeface="Times New Roman" panose="02020603050405020304" pitchFamily="18" charset="0"/>
                <a:cs typeface="Times New Roman" panose="02020603050405020304" pitchFamily="18" charset="0"/>
              </a:rPr>
              <a:t>Purchase Intent: likelihood of user buying a product.</a:t>
            </a:r>
            <a:endParaRPr lang="en-IN" sz="3000" dirty="0">
              <a:latin typeface="Times New Roman" panose="02020603050405020304" pitchFamily="18" charset="0"/>
              <a:cs typeface="Times New Roman" panose="02020603050405020304" pitchFamily="18" charset="0"/>
            </a:endParaRPr>
          </a:p>
          <a:p>
            <a:pPr lvl="0" algn="just"/>
            <a:r>
              <a:rPr lang="en-US" sz="3000" dirty="0">
                <a:latin typeface="Times New Roman" panose="02020603050405020304" pitchFamily="18" charset="0"/>
                <a:cs typeface="Times New Roman" panose="02020603050405020304" pitchFamily="18" charset="0"/>
              </a:rPr>
              <a:t>Hybrid Models: combination of multiple modeling approaches.</a:t>
            </a:r>
            <a:endParaRPr lang="en-IN" sz="3000" dirty="0">
              <a:latin typeface="Times New Roman" panose="02020603050405020304" pitchFamily="18" charset="0"/>
              <a:cs typeface="Times New Roman" panose="02020603050405020304" pitchFamily="18" charset="0"/>
            </a:endParaRPr>
          </a:p>
          <a:p>
            <a:pPr lvl="0" algn="just"/>
            <a:r>
              <a:rPr lang="en-US" sz="3000" dirty="0">
                <a:latin typeface="Times New Roman" panose="02020603050405020304" pitchFamily="18" charset="0"/>
                <a:cs typeface="Times New Roman" panose="02020603050405020304" pitchFamily="18" charset="0"/>
              </a:rPr>
              <a:t>Clickstream Data: sequential record of user online actions.</a:t>
            </a:r>
            <a:endParaRPr lang="en-IN" sz="3000" dirty="0">
              <a:latin typeface="Times New Roman" panose="02020603050405020304" pitchFamily="18" charset="0"/>
              <a:cs typeface="Times New Roman" panose="02020603050405020304" pitchFamily="18" charset="0"/>
            </a:endParaRPr>
          </a:p>
          <a:p>
            <a:pPr lvl="0" algn="just"/>
            <a:r>
              <a:rPr lang="en-US" sz="3000" dirty="0">
                <a:latin typeface="Times New Roman" panose="02020603050405020304" pitchFamily="18" charset="0"/>
                <a:cs typeface="Times New Roman" panose="02020603050405020304" pitchFamily="18" charset="0"/>
              </a:rPr>
              <a:t>Deep Learning: neural-network based machine learning approach.</a:t>
            </a:r>
            <a:endParaRPr lang="en-IN" sz="3000" dirty="0">
              <a:latin typeface="Times New Roman" panose="02020603050405020304" pitchFamily="18" charset="0"/>
              <a:cs typeface="Times New Roman" panose="02020603050405020304" pitchFamily="18" charset="0"/>
            </a:endParaRPr>
          </a:p>
          <a:p>
            <a:pPr lvl="0" algn="just"/>
            <a:r>
              <a:rPr lang="en-US" sz="3000" dirty="0">
                <a:latin typeface="Times New Roman" panose="02020603050405020304" pitchFamily="18" charset="0"/>
                <a:cs typeface="Times New Roman" panose="02020603050405020304" pitchFamily="18" charset="0"/>
              </a:rPr>
              <a:t>E-commerce: online buying and selling of products and services.</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716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54FC-52D7-D8F3-8E2F-F3C09055F0E8}"/>
              </a:ext>
            </a:extLst>
          </p:cNvPr>
          <p:cNvSpPr>
            <a:spLocks noGrp="1"/>
          </p:cNvSpPr>
          <p:nvPr>
            <p:ph type="title"/>
          </p:nvPr>
        </p:nvSpPr>
        <p:spPr>
          <a:xfrm>
            <a:off x="22122" y="18255"/>
            <a:ext cx="12169877" cy="1325563"/>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DD673D2-E713-3E00-700B-EDB9AF659C5A}"/>
              </a:ext>
            </a:extLst>
          </p:cNvPr>
          <p:cNvSpPr>
            <a:spLocks noGrp="1"/>
          </p:cNvSpPr>
          <p:nvPr>
            <p:ph idx="1"/>
          </p:nvPr>
        </p:nvSpPr>
        <p:spPr>
          <a:xfrm>
            <a:off x="34412" y="1343818"/>
            <a:ext cx="12135466" cy="5514182"/>
          </a:xfrm>
        </p:spPr>
        <p:txBody>
          <a:bodyPr>
            <a:normAutofit/>
          </a:bodyPr>
          <a:lstStyle/>
          <a:p>
            <a:pPr algn="just"/>
            <a:r>
              <a:rPr lang="en-US" sz="3000" dirty="0">
                <a:latin typeface="Times New Roman" panose="02020603050405020304" pitchFamily="18" charset="0"/>
                <a:cs typeface="Times New Roman" panose="02020603050405020304" pitchFamily="18" charset="0"/>
              </a:rPr>
              <a:t>With the rapid growth of e-commerce platforms, understanding user behavior has become more important than ever. Every time a user browses a website—clicking on products, scrolling through pages, or spending time on certain items—they leave behind valuable data. This data, known as </a:t>
            </a:r>
            <a:r>
              <a:rPr lang="en-US" sz="3000" b="1" dirty="0">
                <a:latin typeface="Times New Roman" panose="02020603050405020304" pitchFamily="18" charset="0"/>
                <a:cs typeface="Times New Roman" panose="02020603050405020304" pitchFamily="18" charset="0"/>
              </a:rPr>
              <a:t>clickstream data</a:t>
            </a:r>
            <a:r>
              <a:rPr lang="en-US" sz="3000" dirty="0">
                <a:latin typeface="Times New Roman" panose="02020603050405020304" pitchFamily="18" charset="0"/>
                <a:cs typeface="Times New Roman" panose="02020603050405020304" pitchFamily="18" charset="0"/>
              </a:rPr>
              <a:t>, can be used to understand whether a user is likely to make a purchase or not.</a:t>
            </a:r>
          </a:p>
          <a:p>
            <a:pPr algn="just"/>
            <a:r>
              <a:rPr lang="en-US" sz="3000" dirty="0">
                <a:latin typeface="Times New Roman" panose="02020603050405020304" pitchFamily="18" charset="0"/>
                <a:cs typeface="Times New Roman" panose="02020603050405020304" pitchFamily="18" charset="0"/>
              </a:rPr>
              <a:t>Predicting purchase intent is important because it helps businesses improve product recommendations, target the right customers with marketing, and increase overall sales. For example, if a system can predict that a user is likely to buy a product, it can show personalized offers or recommendations at the right time.</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676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2D5C-10FF-E53F-44CD-C7619F1FE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64669-E98B-6CC3-8501-9CF73C9B02C8}"/>
              </a:ext>
            </a:extLst>
          </p:cNvPr>
          <p:cNvSpPr>
            <a:spLocks noGrp="1"/>
          </p:cNvSpPr>
          <p:nvPr>
            <p:ph type="title"/>
          </p:nvPr>
        </p:nvSpPr>
        <p:spPr>
          <a:xfrm>
            <a:off x="22122" y="18255"/>
            <a:ext cx="12169877" cy="1325563"/>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1646E7-5E0A-8079-F2ED-DF3FD3B8363B}"/>
              </a:ext>
            </a:extLst>
          </p:cNvPr>
          <p:cNvSpPr>
            <a:spLocks noGrp="1"/>
          </p:cNvSpPr>
          <p:nvPr>
            <p:ph idx="1"/>
          </p:nvPr>
        </p:nvSpPr>
        <p:spPr>
          <a:xfrm>
            <a:off x="34412" y="1343818"/>
            <a:ext cx="12135466" cy="5514182"/>
          </a:xfrm>
        </p:spPr>
        <p:txBody>
          <a:bodyPr>
            <a:normAutofit/>
          </a:bodyPr>
          <a:lstStyle/>
          <a:p>
            <a:pPr algn="just"/>
            <a:r>
              <a:rPr lang="en-US" sz="3000" dirty="0">
                <a:latin typeface="Times New Roman" panose="02020603050405020304" pitchFamily="18" charset="0"/>
                <a:cs typeface="Times New Roman" panose="02020603050405020304" pitchFamily="18" charset="0"/>
              </a:rPr>
              <a:t>However, predicting purchase intent is difficult. Traditional machine learning models mostly focus on simple relationships between features (like user and product), but they often fail to capture more complex patterns in user behavior. In reality, a user’s decision to purchase depends on multiple factors interacting together, such as browsing history, session duration, product categories, and more.</a:t>
            </a:r>
          </a:p>
          <a:p>
            <a:pPr algn="just"/>
            <a:r>
              <a:rPr lang="en-US" sz="3000" dirty="0">
                <a:latin typeface="Times New Roman" panose="02020603050405020304" pitchFamily="18" charset="0"/>
                <a:cs typeface="Times New Roman" panose="02020603050405020304" pitchFamily="18" charset="0"/>
              </a:rPr>
              <a:t>To address this problem, this project uses a </a:t>
            </a:r>
            <a:r>
              <a:rPr lang="en-US" sz="3000" b="1" dirty="0">
                <a:latin typeface="Times New Roman" panose="02020603050405020304" pitchFamily="18" charset="0"/>
                <a:cs typeface="Times New Roman" panose="02020603050405020304" pitchFamily="18" charset="0"/>
              </a:rPr>
              <a:t>bivariate–multivariate hybrid approach</a:t>
            </a:r>
            <a:r>
              <a:rPr lang="en-US" sz="3000" dirty="0">
                <a:latin typeface="Times New Roman" panose="02020603050405020304" pitchFamily="18" charset="0"/>
                <a:cs typeface="Times New Roman" panose="02020603050405020304" pitchFamily="18" charset="0"/>
              </a:rPr>
              <a:t>. The bivariate part focuses on direct relationships between features, while the multivariate part captures deeper and more complex patterns. By combining both approaches, the model is able to better understand user behavior and improve prediction accuracy.</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1306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6957-4D27-CFD0-00A4-3B7B775879ED}"/>
              </a:ext>
            </a:extLst>
          </p:cNvPr>
          <p:cNvSpPr>
            <a:spLocks noGrp="1"/>
          </p:cNvSpPr>
          <p:nvPr>
            <p:ph type="title"/>
          </p:nvPr>
        </p:nvSpPr>
        <p:spPr>
          <a:xfrm>
            <a:off x="22123" y="0"/>
            <a:ext cx="12169877" cy="1325563"/>
          </a:xfrm>
        </p:spPr>
        <p:txBody>
          <a:bodyPr/>
          <a:lstStyle/>
          <a:p>
            <a:r>
              <a:rPr lang="en-IN" b="1"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D886A763-174C-6853-FE10-B6CEEDBA5A04}"/>
              </a:ext>
            </a:extLst>
          </p:cNvPr>
          <p:cNvSpPr>
            <a:spLocks noGrp="1"/>
          </p:cNvSpPr>
          <p:nvPr>
            <p:ph idx="1"/>
          </p:nvPr>
        </p:nvSpPr>
        <p:spPr>
          <a:xfrm>
            <a:off x="22122" y="1325562"/>
            <a:ext cx="12169877" cy="5532437"/>
          </a:xfrm>
        </p:spPr>
        <p:txBody>
          <a:bodyPr>
            <a:normAutofit/>
          </a:bodyPr>
          <a:lstStyle/>
          <a:p>
            <a:pPr algn="just"/>
            <a:r>
              <a:rPr lang="en-US" sz="3000" dirty="0">
                <a:latin typeface="Times New Roman" panose="02020603050405020304" pitchFamily="18" charset="0"/>
                <a:cs typeface="Times New Roman" panose="02020603050405020304" pitchFamily="18" charset="0"/>
              </a:rPr>
              <a:t>To overcome the limitation of existing models that fail to capture both </a:t>
            </a:r>
            <a:r>
              <a:rPr lang="en-US" sz="3000" b="1" dirty="0">
                <a:latin typeface="Times New Roman" panose="02020603050405020304" pitchFamily="18" charset="0"/>
                <a:cs typeface="Times New Roman" panose="02020603050405020304" pitchFamily="18" charset="0"/>
              </a:rPr>
              <a:t>simple (pairwise)</a:t>
            </a:r>
            <a:r>
              <a:rPr lang="en-US" sz="3000" dirty="0">
                <a:latin typeface="Times New Roman" panose="02020603050405020304" pitchFamily="18" charset="0"/>
                <a:cs typeface="Times New Roman" panose="02020603050405020304" pitchFamily="18" charset="0"/>
              </a:rPr>
              <a:t> and </a:t>
            </a:r>
            <a:r>
              <a:rPr lang="en-US" sz="3000" b="1" dirty="0">
                <a:latin typeface="Times New Roman" panose="02020603050405020304" pitchFamily="18" charset="0"/>
                <a:cs typeface="Times New Roman" panose="02020603050405020304" pitchFamily="18" charset="0"/>
              </a:rPr>
              <a:t>complex (higher-order)</a:t>
            </a:r>
            <a:r>
              <a:rPr lang="en-US" sz="3000" dirty="0">
                <a:latin typeface="Times New Roman" panose="02020603050405020304" pitchFamily="18" charset="0"/>
                <a:cs typeface="Times New Roman" panose="02020603050405020304" pitchFamily="18" charset="0"/>
              </a:rPr>
              <a:t> user behavior patterns: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study the impact of </a:t>
            </a:r>
            <a:r>
              <a:rPr lang="en-US" sz="3000" b="1" dirty="0">
                <a:latin typeface="Times New Roman" panose="02020603050405020304" pitchFamily="18" charset="0"/>
                <a:cs typeface="Times New Roman" panose="02020603050405020304" pitchFamily="18" charset="0"/>
              </a:rPr>
              <a:t>bivariate feature interactions</a:t>
            </a:r>
            <a:r>
              <a:rPr lang="en-US" sz="3000" dirty="0">
                <a:latin typeface="Times New Roman" panose="02020603050405020304" pitchFamily="18" charset="0"/>
                <a:cs typeface="Times New Roman" panose="02020603050405020304" pitchFamily="18" charset="0"/>
              </a:rPr>
              <a:t> using Factorization Machines.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capture </a:t>
            </a:r>
            <a:r>
              <a:rPr lang="en-US" sz="3000" b="1" dirty="0">
                <a:latin typeface="Times New Roman" panose="02020603050405020304" pitchFamily="18" charset="0"/>
                <a:cs typeface="Times New Roman" panose="02020603050405020304" pitchFamily="18" charset="0"/>
              </a:rPr>
              <a:t>complex and non-linear relationships</a:t>
            </a:r>
            <a:r>
              <a:rPr lang="en-US" sz="3000" dirty="0">
                <a:latin typeface="Times New Roman" panose="02020603050405020304" pitchFamily="18" charset="0"/>
                <a:cs typeface="Times New Roman" panose="02020603050405020304" pitchFamily="18" charset="0"/>
              </a:rPr>
              <a:t> using deep learning model.</a:t>
            </a:r>
          </a:p>
          <a:p>
            <a:pPr algn="just"/>
            <a:r>
              <a:rPr lang="en-US" sz="3000" dirty="0">
                <a:latin typeface="Times New Roman" panose="02020603050405020304" pitchFamily="18" charset="0"/>
                <a:cs typeface="Times New Roman" panose="02020603050405020304" pitchFamily="18" charset="0"/>
              </a:rPr>
              <a:t>To develop hybrid models such as </a:t>
            </a:r>
            <a:r>
              <a:rPr lang="en-US" sz="3000" b="1" dirty="0" err="1">
                <a:latin typeface="Times New Roman" panose="02020603050405020304" pitchFamily="18" charset="0"/>
                <a:cs typeface="Times New Roman" panose="02020603050405020304" pitchFamily="18" charset="0"/>
              </a:rPr>
              <a:t>DeepFM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xDeepFM</a:t>
            </a:r>
            <a:r>
              <a:rPr lang="en-US" sz="3000" b="1" dirty="0">
                <a:latin typeface="Times New Roman" panose="02020603050405020304" pitchFamily="18" charset="0"/>
                <a:cs typeface="Times New Roman" panose="02020603050405020304" pitchFamily="18" charset="0"/>
              </a:rPr>
              <a:t>, and </a:t>
            </a:r>
            <a:r>
              <a:rPr lang="en-US" sz="3000" b="1" dirty="0" err="1">
                <a:latin typeface="Times New Roman" panose="02020603050405020304" pitchFamily="18" charset="0"/>
                <a:cs typeface="Times New Roman" panose="02020603050405020304" pitchFamily="18" charset="0"/>
              </a:rPr>
              <a:t>AutoInt</a:t>
            </a:r>
            <a:r>
              <a:rPr lang="en-US" sz="3000" b="1"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design a </a:t>
            </a:r>
            <a:r>
              <a:rPr lang="en-US" sz="3000" b="1" dirty="0">
                <a:latin typeface="Times New Roman" panose="02020603050405020304" pitchFamily="18" charset="0"/>
                <a:cs typeface="Times New Roman" panose="02020603050405020304" pitchFamily="18" charset="0"/>
              </a:rPr>
              <a:t>hybrid modeling approach</a:t>
            </a:r>
            <a:r>
              <a:rPr lang="en-US" sz="3000" dirty="0">
                <a:latin typeface="Times New Roman" panose="02020603050405020304" pitchFamily="18" charset="0"/>
                <a:cs typeface="Times New Roman" panose="02020603050405020304" pitchFamily="18" charset="0"/>
              </a:rPr>
              <a:t> that combines interaction-based models (like FM) with deep learning techniques.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build a model that better reflects </a:t>
            </a:r>
            <a:r>
              <a:rPr lang="en-US" sz="3000" b="1" dirty="0">
                <a:latin typeface="Times New Roman" panose="02020603050405020304" pitchFamily="18" charset="0"/>
                <a:cs typeface="Times New Roman" panose="02020603050405020304" pitchFamily="18" charset="0"/>
              </a:rPr>
              <a:t>real-world user decision-making</a:t>
            </a:r>
            <a:r>
              <a:rPr lang="en-US" sz="3000" dirty="0">
                <a:latin typeface="Times New Roman" panose="02020603050405020304" pitchFamily="18" charset="0"/>
                <a:cs typeface="Times New Roman" panose="02020603050405020304" pitchFamily="18" charset="0"/>
              </a:rPr>
              <a:t>, where multiple factors interact together.</a:t>
            </a: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204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E171E-5C2B-F44D-562F-7C71811F2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8CFD8-EF7C-EF2C-7EF6-F2F239B43C5E}"/>
              </a:ext>
            </a:extLst>
          </p:cNvPr>
          <p:cNvSpPr>
            <a:spLocks noGrp="1"/>
          </p:cNvSpPr>
          <p:nvPr>
            <p:ph type="title"/>
          </p:nvPr>
        </p:nvSpPr>
        <p:spPr>
          <a:xfrm>
            <a:off x="22123" y="0"/>
            <a:ext cx="12169877" cy="1325563"/>
          </a:xfrm>
        </p:spPr>
        <p:txBody>
          <a:bodyPr/>
          <a:lstStyle/>
          <a:p>
            <a:r>
              <a:rPr lang="en-IN" b="1"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A7303B4A-2966-D800-2033-26118E5E768C}"/>
              </a:ext>
            </a:extLst>
          </p:cNvPr>
          <p:cNvSpPr>
            <a:spLocks noGrp="1"/>
          </p:cNvSpPr>
          <p:nvPr>
            <p:ph idx="1"/>
          </p:nvPr>
        </p:nvSpPr>
        <p:spPr>
          <a:xfrm>
            <a:off x="22122" y="1325562"/>
            <a:ext cx="12169877" cy="5532437"/>
          </a:xfrm>
        </p:spPr>
        <p:txBody>
          <a:bodyPr>
            <a:normAutofit/>
          </a:bodyPr>
          <a:lstStyle/>
          <a:p>
            <a:pPr algn="just"/>
            <a:r>
              <a:rPr lang="en-US" sz="3000" dirty="0">
                <a:latin typeface="Times New Roman" panose="02020603050405020304" pitchFamily="18" charset="0"/>
                <a:cs typeface="Times New Roman" panose="02020603050405020304" pitchFamily="18" charset="0"/>
              </a:rPr>
              <a:t>To enhance the system’s ability to correctly identify </a:t>
            </a:r>
            <a:r>
              <a:rPr lang="en-US" sz="3000" b="1" dirty="0">
                <a:latin typeface="Times New Roman" panose="02020603050405020304" pitchFamily="18" charset="0"/>
                <a:cs typeface="Times New Roman" panose="02020603050405020304" pitchFamily="18" charset="0"/>
              </a:rPr>
              <a:t>rare purchase events (buyers vs non-buyers):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evaluate model performance using metrics like </a:t>
            </a:r>
            <a:r>
              <a:rPr lang="en-US" sz="3000" b="1" dirty="0">
                <a:latin typeface="Times New Roman" panose="02020603050405020304" pitchFamily="18" charset="0"/>
                <a:cs typeface="Times New Roman" panose="02020603050405020304" pitchFamily="18" charset="0"/>
              </a:rPr>
              <a:t>Accuracy, Precision, Recall, F1-score, and AUC.</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To compare traditional, bivariate, multivariate, and hybrid models.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To develop a </a:t>
            </a:r>
            <a:r>
              <a:rPr lang="en-US" sz="3000" b="1" dirty="0">
                <a:latin typeface="Times New Roman" panose="02020603050405020304" pitchFamily="18" charset="0"/>
                <a:cs typeface="Times New Roman" panose="02020603050405020304" pitchFamily="18" charset="0"/>
              </a:rPr>
              <a:t>hybrid modeling approach</a:t>
            </a:r>
            <a:r>
              <a:rPr lang="en-US" sz="3000" dirty="0">
                <a:latin typeface="Times New Roman" panose="02020603050405020304" pitchFamily="18" charset="0"/>
                <a:cs typeface="Times New Roman" panose="02020603050405020304" pitchFamily="18" charset="0"/>
              </a:rPr>
              <a:t> that outperforms standalone bivariate or deep learning models</a:t>
            </a:r>
            <a:r>
              <a:rPr lang="en-US" sz="3000" b="1" dirty="0">
                <a:latin typeface="Times New Roman" panose="02020603050405020304" pitchFamily="18" charset="0"/>
                <a:cs typeface="Times New Roman" panose="02020603050405020304" pitchFamily="18" charset="0"/>
              </a:rPr>
              <a:t>.</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608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F1A9-292D-5010-CF4A-9CFF8933359C}"/>
              </a:ext>
            </a:extLst>
          </p:cNvPr>
          <p:cNvSpPr>
            <a:spLocks noGrp="1"/>
          </p:cNvSpPr>
          <p:nvPr>
            <p:ph type="title"/>
          </p:nvPr>
        </p:nvSpPr>
        <p:spPr>
          <a:xfrm>
            <a:off x="0" y="18255"/>
            <a:ext cx="12192000" cy="1325563"/>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9949A899-DC08-3AED-2130-75F3F76574C0}"/>
              </a:ext>
            </a:extLst>
          </p:cNvPr>
          <p:cNvSpPr>
            <a:spLocks noGrp="1"/>
          </p:cNvSpPr>
          <p:nvPr>
            <p:ph idx="1"/>
          </p:nvPr>
        </p:nvSpPr>
        <p:spPr>
          <a:xfrm>
            <a:off x="0" y="1343817"/>
            <a:ext cx="12192000" cy="5495927"/>
          </a:xfrm>
        </p:spPr>
        <p:txBody>
          <a:bodyPr>
            <a:noAutofit/>
          </a:bodyPr>
          <a:lstStyle/>
          <a:p>
            <a:pPr algn="just"/>
            <a:r>
              <a:rPr lang="en-US" sz="3000" dirty="0">
                <a:latin typeface="Times New Roman" panose="02020603050405020304" pitchFamily="18" charset="0"/>
                <a:cs typeface="Times New Roman" panose="02020603050405020304" pitchFamily="18" charset="0"/>
              </a:rPr>
              <a:t>Steffen Rendle (2010) introduced </a:t>
            </a:r>
            <a:r>
              <a:rPr lang="en-US" sz="3000" b="1" dirty="0">
                <a:latin typeface="Times New Roman" panose="02020603050405020304" pitchFamily="18" charset="0"/>
                <a:cs typeface="Times New Roman" panose="02020603050405020304" pitchFamily="18" charset="0"/>
              </a:rPr>
              <a:t>Factorization Machines (FM)</a:t>
            </a:r>
            <a:r>
              <a:rPr lang="en-US" sz="3000" dirty="0">
                <a:latin typeface="Times New Roman" panose="02020603050405020304" pitchFamily="18" charset="0"/>
                <a:cs typeface="Times New Roman" panose="02020603050405020304" pitchFamily="18" charset="0"/>
              </a:rPr>
              <a:t> for modeling sparse data with </a:t>
            </a:r>
            <a:r>
              <a:rPr lang="en-US" sz="3000" b="1" dirty="0">
                <a:latin typeface="Times New Roman" panose="02020603050405020304" pitchFamily="18" charset="0"/>
                <a:cs typeface="Times New Roman" panose="02020603050405020304" pitchFamily="18" charset="0"/>
              </a:rPr>
              <a:t>pairwise feature interactions</a:t>
            </a:r>
            <a:r>
              <a:rPr lang="en-US" sz="3000" dirty="0">
                <a:latin typeface="Times New Roman" panose="02020603050405020304" pitchFamily="18" charset="0"/>
                <a:cs typeface="Times New Roman" panose="02020603050405020304" pitchFamily="18" charset="0"/>
              </a:rPr>
              <a:t>.</a:t>
            </a:r>
          </a:p>
          <a:p>
            <a:pPr marL="0" indent="0" algn="just">
              <a:buNone/>
            </a:pPr>
            <a:r>
              <a:rPr lang="en-US" sz="3000" dirty="0">
                <a:latin typeface="Times New Roman" panose="02020603050405020304" pitchFamily="18" charset="0"/>
                <a:cs typeface="Times New Roman" panose="02020603050405020304" pitchFamily="18" charset="0"/>
              </a:rPr>
              <a:t>→ In this project, FM is used to capture </a:t>
            </a:r>
            <a:r>
              <a:rPr lang="en-US" sz="3000" b="1" dirty="0">
                <a:latin typeface="Times New Roman" panose="02020603050405020304" pitchFamily="18" charset="0"/>
                <a:cs typeface="Times New Roman" panose="02020603050405020304" pitchFamily="18" charset="0"/>
              </a:rPr>
              <a:t>low-order (bivariate) relationships</a:t>
            </a:r>
            <a:r>
              <a:rPr lang="en-US" sz="3000" dirty="0">
                <a:latin typeface="Times New Roman" panose="02020603050405020304" pitchFamily="18" charset="0"/>
                <a:cs typeface="Times New Roman" panose="02020603050405020304" pitchFamily="18" charset="0"/>
              </a:rPr>
              <a:t> such as user–product interactions.</a:t>
            </a:r>
          </a:p>
          <a:p>
            <a:pPr algn="just"/>
            <a:r>
              <a:rPr lang="en-US" sz="3000" dirty="0" err="1">
                <a:latin typeface="Times New Roman" panose="02020603050405020304" pitchFamily="18" charset="0"/>
                <a:cs typeface="Times New Roman" panose="02020603050405020304" pitchFamily="18" charset="0"/>
              </a:rPr>
              <a:t>Huifeng</a:t>
            </a:r>
            <a:r>
              <a:rPr lang="en-US" sz="3000" dirty="0">
                <a:latin typeface="Times New Roman" panose="02020603050405020304" pitchFamily="18" charset="0"/>
                <a:cs typeface="Times New Roman" panose="02020603050405020304" pitchFamily="18" charset="0"/>
              </a:rPr>
              <a:t> Guo et al. (2017) proposed </a:t>
            </a:r>
            <a:r>
              <a:rPr lang="en-US" sz="3000" b="1" dirty="0" err="1">
                <a:latin typeface="Times New Roman" panose="02020603050405020304" pitchFamily="18" charset="0"/>
                <a:cs typeface="Times New Roman" panose="02020603050405020304" pitchFamily="18" charset="0"/>
              </a:rPr>
              <a:t>DeepFM</a:t>
            </a:r>
            <a:r>
              <a:rPr lang="en-US" sz="3000" dirty="0">
                <a:latin typeface="Times New Roman" panose="02020603050405020304" pitchFamily="18" charset="0"/>
                <a:cs typeface="Times New Roman" panose="02020603050405020304" pitchFamily="18" charset="0"/>
              </a:rPr>
              <a:t>, which combines FM with deep neural networks to jointly learn </a:t>
            </a:r>
            <a:r>
              <a:rPr lang="en-US" sz="3000" b="1" dirty="0">
                <a:latin typeface="Times New Roman" panose="02020603050405020304" pitchFamily="18" charset="0"/>
                <a:cs typeface="Times New Roman" panose="02020603050405020304" pitchFamily="18" charset="0"/>
              </a:rPr>
              <a:t>low-order and high-order feature interactions</a:t>
            </a:r>
            <a:r>
              <a:rPr lang="en-US" sz="3000" dirty="0">
                <a:latin typeface="Times New Roman" panose="02020603050405020304" pitchFamily="18" charset="0"/>
                <a:cs typeface="Times New Roman" panose="02020603050405020304" pitchFamily="18" charset="0"/>
              </a:rPr>
              <a:t>.</a:t>
            </a:r>
          </a:p>
          <a:p>
            <a:pPr marL="0" indent="0" algn="just">
              <a:buNone/>
            </a:pPr>
            <a:r>
              <a:rPr lang="en-US" sz="3000" dirty="0">
                <a:latin typeface="Times New Roman" panose="02020603050405020304" pitchFamily="18" charset="0"/>
                <a:cs typeface="Times New Roman" panose="02020603050405020304" pitchFamily="18" charset="0"/>
              </a:rPr>
              <a:t>→ This concept forms the foundation for our </a:t>
            </a:r>
            <a:r>
              <a:rPr lang="en-US" sz="3000" b="1" dirty="0">
                <a:latin typeface="Times New Roman" panose="02020603050405020304" pitchFamily="18" charset="0"/>
                <a:cs typeface="Times New Roman" panose="02020603050405020304" pitchFamily="18" charset="0"/>
              </a:rPr>
              <a:t>hybrid modeling approach</a:t>
            </a:r>
            <a:r>
              <a:rPr lang="en-US" sz="3000" dirty="0">
                <a:latin typeface="Times New Roman" panose="02020603050405020304" pitchFamily="18" charset="0"/>
                <a:cs typeface="Times New Roman" panose="02020603050405020304" pitchFamily="18" charset="0"/>
              </a:rPr>
              <a:t>.</a:t>
            </a:r>
          </a:p>
          <a:p>
            <a:pPr algn="just"/>
            <a:r>
              <a:rPr lang="en-US" sz="3000" dirty="0" err="1">
                <a:latin typeface="Times New Roman" panose="02020603050405020304" pitchFamily="18" charset="0"/>
                <a:cs typeface="Times New Roman" panose="02020603050405020304" pitchFamily="18" charset="0"/>
              </a:rPr>
              <a:t>Jianxun</a:t>
            </a:r>
            <a:r>
              <a:rPr lang="en-US" sz="3000" dirty="0">
                <a:latin typeface="Times New Roman" panose="02020603050405020304" pitchFamily="18" charset="0"/>
                <a:cs typeface="Times New Roman" panose="02020603050405020304" pitchFamily="18" charset="0"/>
              </a:rPr>
              <a:t> Lian et al. (2018) introduced </a:t>
            </a:r>
            <a:r>
              <a:rPr lang="en-US" sz="3000" b="1" dirty="0" err="1">
                <a:latin typeface="Times New Roman" panose="02020603050405020304" pitchFamily="18" charset="0"/>
                <a:cs typeface="Times New Roman" panose="02020603050405020304" pitchFamily="18" charset="0"/>
              </a:rPr>
              <a:t>xDeepFM</a:t>
            </a:r>
            <a:r>
              <a:rPr lang="en-US" sz="3000" dirty="0">
                <a:latin typeface="Times New Roman" panose="02020603050405020304" pitchFamily="18" charset="0"/>
                <a:cs typeface="Times New Roman" panose="02020603050405020304" pitchFamily="18" charset="0"/>
              </a:rPr>
              <a:t>, which uses a Compressed Interaction Network (CIN) to explicitly model </a:t>
            </a:r>
            <a:r>
              <a:rPr lang="en-US" sz="3000" b="1" dirty="0">
                <a:latin typeface="Times New Roman" panose="02020603050405020304" pitchFamily="18" charset="0"/>
                <a:cs typeface="Times New Roman" panose="02020603050405020304" pitchFamily="18" charset="0"/>
              </a:rPr>
              <a:t>high-order feature interactions</a:t>
            </a:r>
            <a:r>
              <a:rPr lang="en-US" sz="3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3003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E5B52-1EE0-7A74-3C85-6C340CE10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0D94B-8812-95D3-0BF8-8BC16C31567E}"/>
              </a:ext>
            </a:extLst>
          </p:cNvPr>
          <p:cNvSpPr>
            <a:spLocks noGrp="1"/>
          </p:cNvSpPr>
          <p:nvPr>
            <p:ph type="title"/>
          </p:nvPr>
        </p:nvSpPr>
        <p:spPr>
          <a:xfrm>
            <a:off x="0" y="18255"/>
            <a:ext cx="12192000" cy="1325563"/>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63AAE4F1-42AE-FA4A-89BA-7849978FF620}"/>
              </a:ext>
            </a:extLst>
          </p:cNvPr>
          <p:cNvSpPr>
            <a:spLocks noGrp="1"/>
          </p:cNvSpPr>
          <p:nvPr>
            <p:ph idx="1"/>
          </p:nvPr>
        </p:nvSpPr>
        <p:spPr>
          <a:xfrm>
            <a:off x="0" y="1343817"/>
            <a:ext cx="12192000" cy="5495927"/>
          </a:xfrm>
        </p:spPr>
        <p:txBody>
          <a:bodyPr>
            <a:noAutofit/>
          </a:bodyPr>
          <a:lstStyle/>
          <a:p>
            <a:pPr marL="0" indent="0" algn="just">
              <a:buNone/>
            </a:pPr>
            <a:r>
              <a:rPr lang="en-US" sz="3000" dirty="0">
                <a:latin typeface="Times New Roman" panose="02020603050405020304" pitchFamily="18" charset="0"/>
                <a:cs typeface="Times New Roman" panose="02020603050405020304" pitchFamily="18" charset="0"/>
              </a:rPr>
              <a:t>→ This inspires our approach to better capture </a:t>
            </a:r>
            <a:r>
              <a:rPr lang="en-US" sz="3000" b="1" dirty="0">
                <a:latin typeface="Times New Roman" panose="02020603050405020304" pitchFamily="18" charset="0"/>
                <a:cs typeface="Times New Roman" panose="02020603050405020304" pitchFamily="18" charset="0"/>
              </a:rPr>
              <a:t>complex feature combinations</a:t>
            </a:r>
            <a:r>
              <a:rPr lang="en-US" sz="3000" dirty="0">
                <a:latin typeface="Times New Roman" panose="02020603050405020304" pitchFamily="18" charset="0"/>
                <a:cs typeface="Times New Roman" panose="02020603050405020304" pitchFamily="18" charset="0"/>
              </a:rPr>
              <a:t> beyond standard deep models.</a:t>
            </a:r>
          </a:p>
          <a:p>
            <a:pPr algn="just"/>
            <a:r>
              <a:rPr lang="en-US" sz="3000" dirty="0">
                <a:latin typeface="Times New Roman" panose="02020603050405020304" pitchFamily="18" charset="0"/>
                <a:cs typeface="Times New Roman" panose="02020603050405020304" pitchFamily="18" charset="0"/>
              </a:rPr>
              <a:t>Weiping Song et al. (2019) proposed </a:t>
            </a:r>
            <a:r>
              <a:rPr lang="en-US" sz="3000" b="1" dirty="0" err="1">
                <a:latin typeface="Times New Roman" panose="02020603050405020304" pitchFamily="18" charset="0"/>
                <a:cs typeface="Times New Roman" panose="02020603050405020304" pitchFamily="18" charset="0"/>
              </a:rPr>
              <a:t>AutoInt</a:t>
            </a:r>
            <a:r>
              <a:rPr lang="en-US" sz="3000" dirty="0">
                <a:latin typeface="Times New Roman" panose="02020603050405020304" pitchFamily="18" charset="0"/>
                <a:cs typeface="Times New Roman" panose="02020603050405020304" pitchFamily="18" charset="0"/>
              </a:rPr>
              <a:t>, which uses </a:t>
            </a:r>
            <a:r>
              <a:rPr lang="en-US" sz="3000" b="1" dirty="0">
                <a:latin typeface="Times New Roman" panose="02020603050405020304" pitchFamily="18" charset="0"/>
                <a:cs typeface="Times New Roman" panose="02020603050405020304" pitchFamily="18" charset="0"/>
              </a:rPr>
              <a:t>self-attention mechanisms</a:t>
            </a:r>
            <a:r>
              <a:rPr lang="en-US" sz="3000" dirty="0">
                <a:latin typeface="Times New Roman" panose="02020603050405020304" pitchFamily="18" charset="0"/>
                <a:cs typeface="Times New Roman" panose="02020603050405020304" pitchFamily="18" charset="0"/>
              </a:rPr>
              <a:t> to automatically learn feature interactions.</a:t>
            </a:r>
          </a:p>
          <a:p>
            <a:pPr marL="0" indent="0" algn="just">
              <a:buNone/>
            </a:pPr>
            <a:r>
              <a:rPr lang="en-US" sz="3000" dirty="0">
                <a:latin typeface="Times New Roman" panose="02020603050405020304" pitchFamily="18" charset="0"/>
                <a:cs typeface="Times New Roman" panose="02020603050405020304" pitchFamily="18" charset="0"/>
              </a:rPr>
              <a:t>→ This is used in our project to model </a:t>
            </a:r>
            <a:r>
              <a:rPr lang="en-US" sz="3000" b="1" dirty="0">
                <a:latin typeface="Times New Roman" panose="02020603050405020304" pitchFamily="18" charset="0"/>
                <a:cs typeface="Times New Roman" panose="02020603050405020304" pitchFamily="18" charset="0"/>
              </a:rPr>
              <a:t>dynamic and adaptive relationships</a:t>
            </a:r>
            <a:r>
              <a:rPr lang="en-US" sz="3000" dirty="0">
                <a:latin typeface="Times New Roman" panose="02020603050405020304" pitchFamily="18" charset="0"/>
                <a:cs typeface="Times New Roman" panose="02020603050405020304" pitchFamily="18" charset="0"/>
              </a:rPr>
              <a:t> between features.</a:t>
            </a:r>
          </a:p>
          <a:p>
            <a:pPr algn="just"/>
            <a:r>
              <a:rPr lang="en-US" sz="3000" dirty="0">
                <a:latin typeface="Times New Roman" panose="02020603050405020304" pitchFamily="18" charset="0"/>
                <a:cs typeface="Times New Roman" panose="02020603050405020304" pitchFamily="18" charset="0"/>
              </a:rPr>
              <a:t>Chawla Nitesh et al. (2002) introduced </a:t>
            </a:r>
            <a:r>
              <a:rPr lang="en-US" sz="3000" b="1" dirty="0">
                <a:latin typeface="Times New Roman" panose="02020603050405020304" pitchFamily="18" charset="0"/>
                <a:cs typeface="Times New Roman" panose="02020603050405020304" pitchFamily="18" charset="0"/>
              </a:rPr>
              <a:t>SMOTE (Synthetic Minority Over-sampling Technique)</a:t>
            </a:r>
            <a:r>
              <a:rPr lang="en-US" sz="3000" dirty="0">
                <a:latin typeface="Times New Roman" panose="02020603050405020304" pitchFamily="18" charset="0"/>
                <a:cs typeface="Times New Roman" panose="02020603050405020304" pitchFamily="18" charset="0"/>
              </a:rPr>
              <a:t> to handle </a:t>
            </a:r>
            <a:r>
              <a:rPr lang="en-US" sz="3000" b="1" dirty="0">
                <a:latin typeface="Times New Roman" panose="02020603050405020304" pitchFamily="18" charset="0"/>
                <a:cs typeface="Times New Roman" panose="02020603050405020304" pitchFamily="18" charset="0"/>
              </a:rPr>
              <a:t>class imbalance</a:t>
            </a:r>
            <a:r>
              <a:rPr lang="en-US" sz="3000" dirty="0">
                <a:latin typeface="Times New Roman" panose="02020603050405020304" pitchFamily="18" charset="0"/>
                <a:cs typeface="Times New Roman" panose="02020603050405020304" pitchFamily="18" charset="0"/>
              </a:rPr>
              <a:t>.</a:t>
            </a:r>
          </a:p>
          <a:p>
            <a:pPr marL="0" indent="0" algn="just">
              <a:buNone/>
            </a:pPr>
            <a:r>
              <a:rPr lang="en-US" sz="3000" dirty="0">
                <a:latin typeface="Times New Roman" panose="02020603050405020304" pitchFamily="18" charset="0"/>
                <a:cs typeface="Times New Roman" panose="02020603050405020304" pitchFamily="18" charset="0"/>
              </a:rPr>
              <a:t>→ This is applied in our project to improve detection of </a:t>
            </a:r>
            <a:r>
              <a:rPr lang="en-US" sz="3000" b="1" dirty="0">
                <a:latin typeface="Times New Roman" panose="02020603050405020304" pitchFamily="18" charset="0"/>
                <a:cs typeface="Times New Roman" panose="02020603050405020304" pitchFamily="18" charset="0"/>
              </a:rPr>
              <a:t>rare purchase events</a:t>
            </a:r>
            <a:r>
              <a:rPr lang="en-US" sz="3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2340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C3CA-5FC0-AB38-BB00-6934CD3BD7DB}"/>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Data Description</a:t>
            </a:r>
          </a:p>
        </p:txBody>
      </p:sp>
      <p:sp>
        <p:nvSpPr>
          <p:cNvPr id="3" name="Content Placeholder 2">
            <a:extLst>
              <a:ext uri="{FF2B5EF4-FFF2-40B4-BE49-F238E27FC236}">
                <a16:creationId xmlns:a16="http://schemas.microsoft.com/office/drawing/2014/main" id="{93E61958-A5EF-F249-1333-3F896AB7EF6D}"/>
              </a:ext>
            </a:extLst>
          </p:cNvPr>
          <p:cNvSpPr>
            <a:spLocks noGrp="1"/>
          </p:cNvSpPr>
          <p:nvPr>
            <p:ph idx="1"/>
          </p:nvPr>
        </p:nvSpPr>
        <p:spPr>
          <a:xfrm>
            <a:off x="0" y="1343819"/>
            <a:ext cx="12192000" cy="5514179"/>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Session Activity Features:</a:t>
            </a: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Administrative</a:t>
            </a:r>
            <a:r>
              <a:rPr lang="en-US" sz="3000" dirty="0">
                <a:latin typeface="Times New Roman" panose="02020603050405020304" pitchFamily="18" charset="0"/>
                <a:cs typeface="Times New Roman" panose="02020603050405020304" pitchFamily="18" charset="0"/>
              </a:rPr>
              <a:t> – Number of pages related to account/admin (login, profile, etc.)</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Administrative_Duration</a:t>
            </a:r>
            <a:r>
              <a:rPr lang="en-IN" sz="3000" dirty="0">
                <a:latin typeface="Times New Roman" panose="02020603050405020304" pitchFamily="18" charset="0"/>
                <a:cs typeface="Times New Roman" panose="02020603050405020304" pitchFamily="18" charset="0"/>
              </a:rPr>
              <a:t> – Time spent on administrative pages.</a:t>
            </a:r>
          </a:p>
          <a:p>
            <a:pPr marL="514350" indent="-514350" algn="just">
              <a:buFont typeface="+mj-lt"/>
              <a:buAutoNum type="arabicPeriod"/>
            </a:pPr>
            <a:r>
              <a:rPr lang="en-IN" sz="3000" b="1" dirty="0">
                <a:latin typeface="Times New Roman" panose="02020603050405020304" pitchFamily="18" charset="0"/>
                <a:cs typeface="Times New Roman" panose="02020603050405020304" pitchFamily="18" charset="0"/>
              </a:rPr>
              <a:t>Informational</a:t>
            </a:r>
            <a:r>
              <a:rPr lang="en-IN" sz="3000" dirty="0">
                <a:latin typeface="Times New Roman" panose="02020603050405020304" pitchFamily="18" charset="0"/>
                <a:cs typeface="Times New Roman" panose="02020603050405020304" pitchFamily="18" charset="0"/>
              </a:rPr>
              <a:t> – Number of informational pages visited (about, FAQs, etc.)</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Informational_Duration</a:t>
            </a:r>
            <a:r>
              <a:rPr lang="en-IN" sz="3000" dirty="0">
                <a:latin typeface="Times New Roman" panose="02020603050405020304" pitchFamily="18" charset="0"/>
                <a:cs typeface="Times New Roman" panose="02020603050405020304" pitchFamily="18" charset="0"/>
              </a:rPr>
              <a:t> – Time spent on informational pages.</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ProductRelated</a:t>
            </a:r>
            <a:r>
              <a:rPr lang="en-US" sz="3000" dirty="0">
                <a:latin typeface="Times New Roman" panose="02020603050405020304" pitchFamily="18" charset="0"/>
                <a:cs typeface="Times New Roman" panose="02020603050405020304" pitchFamily="18" charset="0"/>
              </a:rPr>
              <a:t> – Number of product-related pages visited.</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ProductRelated_Duration</a:t>
            </a:r>
            <a:r>
              <a:rPr lang="en-US" sz="3000" dirty="0">
                <a:latin typeface="Times New Roman" panose="02020603050405020304" pitchFamily="18" charset="0"/>
                <a:cs typeface="Times New Roman" panose="02020603050405020304" pitchFamily="18" charset="0"/>
              </a:rPr>
              <a:t> – Time spent on product pages.</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5507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89147-E800-B9E7-5D31-6ACC95912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7B3C2-5446-1412-9034-BCA383824768}"/>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Data Description</a:t>
            </a:r>
          </a:p>
        </p:txBody>
      </p:sp>
      <p:sp>
        <p:nvSpPr>
          <p:cNvPr id="3" name="Content Placeholder 2">
            <a:extLst>
              <a:ext uri="{FF2B5EF4-FFF2-40B4-BE49-F238E27FC236}">
                <a16:creationId xmlns:a16="http://schemas.microsoft.com/office/drawing/2014/main" id="{B56DC5C4-9DC3-AC3A-FF1B-036CF1853286}"/>
              </a:ext>
            </a:extLst>
          </p:cNvPr>
          <p:cNvSpPr>
            <a:spLocks noGrp="1"/>
          </p:cNvSpPr>
          <p:nvPr>
            <p:ph idx="1"/>
          </p:nvPr>
        </p:nvSpPr>
        <p:spPr>
          <a:xfrm>
            <a:off x="0" y="1343819"/>
            <a:ext cx="12192000" cy="5514179"/>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Engagement &amp; Behaviour Metrics:</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BounceRates</a:t>
            </a:r>
            <a:r>
              <a:rPr lang="en-US" sz="3000" dirty="0">
                <a:latin typeface="Times New Roman" panose="02020603050405020304" pitchFamily="18" charset="0"/>
                <a:cs typeface="Times New Roman" panose="02020603050405020304" pitchFamily="18" charset="0"/>
              </a:rPr>
              <a:t> – Percentage of visitors who leave after viewing one page.</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ExitRates</a:t>
            </a:r>
            <a:r>
              <a:rPr lang="en-US" sz="3000" dirty="0">
                <a:latin typeface="Times New Roman" panose="02020603050405020304" pitchFamily="18" charset="0"/>
                <a:cs typeface="Times New Roman" panose="02020603050405020304" pitchFamily="18" charset="0"/>
              </a:rPr>
              <a:t> – Percentage of exits from a page.</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PageValues</a:t>
            </a:r>
            <a:r>
              <a:rPr lang="en-US" sz="3000" dirty="0">
                <a:latin typeface="Times New Roman" panose="02020603050405020304" pitchFamily="18" charset="0"/>
                <a:cs typeface="Times New Roman" panose="02020603050405020304" pitchFamily="18" charset="0"/>
              </a:rPr>
              <a:t> – Value of a page based on its contribution to purchase.</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SpecialDay</a:t>
            </a:r>
            <a:r>
              <a:rPr lang="en-US" sz="3000" dirty="0">
                <a:latin typeface="Times New Roman" panose="02020603050405020304" pitchFamily="18" charset="0"/>
                <a:cs typeface="Times New Roman" panose="02020603050405020304" pitchFamily="18" charset="0"/>
              </a:rPr>
              <a:t> – Indicates closeness to a special day (e.g., festivals, sales).</a:t>
            </a:r>
          </a:p>
          <a:p>
            <a:pPr marL="0" indent="0" algn="just">
              <a:buNone/>
            </a:pPr>
            <a:endParaRPr lang="en-US" sz="3000" dirty="0">
              <a:latin typeface="Times New Roman" panose="02020603050405020304" pitchFamily="18" charset="0"/>
              <a:cs typeface="Times New Roman" panose="02020603050405020304" pitchFamily="18" charset="0"/>
            </a:endParaRPr>
          </a:p>
          <a:p>
            <a:pPr algn="just"/>
            <a:r>
              <a:rPr lang="en-IN" sz="3000" b="1" u="sng" dirty="0">
                <a:latin typeface="Times New Roman" panose="02020603050405020304" pitchFamily="18" charset="0"/>
                <a:cs typeface="Times New Roman" panose="02020603050405020304" pitchFamily="18" charset="0"/>
              </a:rPr>
              <a:t>Time-based Feature:</a:t>
            </a:r>
          </a:p>
          <a:p>
            <a:pPr algn="just"/>
            <a:r>
              <a:rPr lang="en-US" sz="3000" b="1" dirty="0">
                <a:latin typeface="Times New Roman" panose="02020603050405020304" pitchFamily="18" charset="0"/>
                <a:cs typeface="Times New Roman" panose="02020603050405020304" pitchFamily="18" charset="0"/>
              </a:rPr>
              <a:t>Month</a:t>
            </a:r>
            <a:r>
              <a:rPr lang="en-US" sz="3000" dirty="0">
                <a:latin typeface="Times New Roman" panose="02020603050405020304" pitchFamily="18" charset="0"/>
                <a:cs typeface="Times New Roman" panose="02020603050405020304" pitchFamily="18" charset="0"/>
              </a:rPr>
              <a:t> – Month of the session (e.g., Feb, Mar, Nov).</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76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469A7-48D4-B125-2D21-91B3B2E39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0C907-03C7-201A-36E9-4D78989B0CE6}"/>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Data Description</a:t>
            </a:r>
          </a:p>
        </p:txBody>
      </p:sp>
      <p:sp>
        <p:nvSpPr>
          <p:cNvPr id="3" name="Content Placeholder 2">
            <a:extLst>
              <a:ext uri="{FF2B5EF4-FFF2-40B4-BE49-F238E27FC236}">
                <a16:creationId xmlns:a16="http://schemas.microsoft.com/office/drawing/2014/main" id="{08A346B2-4511-8F97-EC30-C72FA168CD05}"/>
              </a:ext>
            </a:extLst>
          </p:cNvPr>
          <p:cNvSpPr>
            <a:spLocks noGrp="1"/>
          </p:cNvSpPr>
          <p:nvPr>
            <p:ph idx="1"/>
          </p:nvPr>
        </p:nvSpPr>
        <p:spPr>
          <a:xfrm>
            <a:off x="0" y="1343819"/>
            <a:ext cx="12192000" cy="5514179"/>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User &amp; Session Information:</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OperatingSystems</a:t>
            </a:r>
            <a:r>
              <a:rPr lang="en-IN" sz="3000" dirty="0">
                <a:latin typeface="Times New Roman" panose="02020603050405020304" pitchFamily="18" charset="0"/>
                <a:cs typeface="Times New Roman" panose="02020603050405020304" pitchFamily="18" charset="0"/>
              </a:rPr>
              <a:t> – User’s operating system.</a:t>
            </a: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Browser</a:t>
            </a:r>
            <a:r>
              <a:rPr lang="en-US" sz="3000" dirty="0">
                <a:latin typeface="Times New Roman" panose="02020603050405020304" pitchFamily="18" charset="0"/>
                <a:cs typeface="Times New Roman" panose="02020603050405020304" pitchFamily="18" charset="0"/>
              </a:rPr>
              <a:t> – Browser used (Chrome, Firefox, etc.)</a:t>
            </a: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Region</a:t>
            </a:r>
            <a:r>
              <a:rPr lang="en-US" sz="3000" dirty="0">
                <a:latin typeface="Times New Roman" panose="02020603050405020304" pitchFamily="18" charset="0"/>
                <a:cs typeface="Times New Roman" panose="02020603050405020304" pitchFamily="18" charset="0"/>
              </a:rPr>
              <a:t> – Geographic region of the user.</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TrafficType</a:t>
            </a:r>
            <a:r>
              <a:rPr lang="en-US" sz="3000" dirty="0">
                <a:latin typeface="Times New Roman" panose="02020603050405020304" pitchFamily="18" charset="0"/>
                <a:cs typeface="Times New Roman" panose="02020603050405020304" pitchFamily="18" charset="0"/>
              </a:rPr>
              <a:t> – Source of traffic (direct, ads, referral, etc.)</a:t>
            </a:r>
          </a:p>
          <a:p>
            <a:pPr marL="514350" indent="-514350" algn="just">
              <a:buFont typeface="+mj-lt"/>
              <a:buAutoNum type="arabicPeriod"/>
            </a:pPr>
            <a:r>
              <a:rPr lang="en-US" sz="3000" b="1" dirty="0" err="1">
                <a:latin typeface="Times New Roman" panose="02020603050405020304" pitchFamily="18" charset="0"/>
                <a:cs typeface="Times New Roman" panose="02020603050405020304" pitchFamily="18" charset="0"/>
              </a:rPr>
              <a:t>VisitorType</a:t>
            </a:r>
            <a:r>
              <a:rPr lang="en-US" sz="3000" dirty="0">
                <a:latin typeface="Times New Roman" panose="02020603050405020304" pitchFamily="18" charset="0"/>
                <a:cs typeface="Times New Roman" panose="02020603050405020304" pitchFamily="18" charset="0"/>
              </a:rPr>
              <a:t> – Type of visitor (Returning / New / Other,)</a:t>
            </a: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Weekend</a:t>
            </a:r>
            <a:r>
              <a:rPr lang="en-US" sz="3000" dirty="0">
                <a:latin typeface="Times New Roman" panose="02020603050405020304" pitchFamily="18" charset="0"/>
                <a:cs typeface="Times New Roman" panose="02020603050405020304" pitchFamily="18" charset="0"/>
              </a:rPr>
              <a:t> – Whether the session happened on a weekend (True/False.)</a:t>
            </a:r>
          </a:p>
          <a:p>
            <a:pPr marL="0" indent="0" algn="just">
              <a:buNone/>
            </a:pPr>
            <a:endParaRPr lang="en-US" sz="3000" dirty="0">
              <a:latin typeface="Times New Roman" panose="02020603050405020304" pitchFamily="18" charset="0"/>
              <a:cs typeface="Times New Roman" panose="02020603050405020304" pitchFamily="18" charset="0"/>
            </a:endParaRPr>
          </a:p>
          <a:p>
            <a:pPr algn="just"/>
            <a:r>
              <a:rPr lang="en-IN" sz="3000" b="1" u="sng" dirty="0">
                <a:latin typeface="Times New Roman" panose="02020603050405020304" pitchFamily="18" charset="0"/>
                <a:cs typeface="Times New Roman" panose="02020603050405020304" pitchFamily="18" charset="0"/>
              </a:rPr>
              <a:t>Target Variable:</a:t>
            </a:r>
          </a:p>
          <a:p>
            <a:pPr algn="just"/>
            <a:r>
              <a:rPr lang="en-IN" sz="3000" b="1" dirty="0">
                <a:latin typeface="Times New Roman" panose="02020603050405020304" pitchFamily="18" charset="0"/>
                <a:cs typeface="Times New Roman" panose="02020603050405020304" pitchFamily="18" charset="0"/>
              </a:rPr>
              <a:t>Revenue</a:t>
            </a:r>
            <a:r>
              <a:rPr lang="en-IN" sz="3000" dirty="0">
                <a:latin typeface="Times New Roman" panose="02020603050405020304" pitchFamily="18" charset="0"/>
                <a:cs typeface="Times New Roman" panose="02020603050405020304" pitchFamily="18" charset="0"/>
              </a:rPr>
              <a:t> – Final outcome: </a:t>
            </a:r>
            <a:r>
              <a:rPr lang="en-IN" sz="3000" b="1" dirty="0">
                <a:latin typeface="Times New Roman" panose="02020603050405020304" pitchFamily="18" charset="0"/>
                <a:cs typeface="Times New Roman" panose="02020603050405020304" pitchFamily="18" charset="0"/>
              </a:rPr>
              <a:t>True(1)</a:t>
            </a:r>
            <a:r>
              <a:rPr lang="en-IN" sz="3000" dirty="0">
                <a:latin typeface="Times New Roman" panose="02020603050405020304" pitchFamily="18" charset="0"/>
                <a:cs typeface="Times New Roman" panose="02020603050405020304" pitchFamily="18" charset="0"/>
              </a:rPr>
              <a:t> → Purchase/</a:t>
            </a:r>
            <a:r>
              <a:rPr lang="en-IN" sz="3000" b="1" dirty="0">
                <a:latin typeface="Times New Roman" panose="02020603050405020304" pitchFamily="18" charset="0"/>
                <a:cs typeface="Times New Roman" panose="02020603050405020304" pitchFamily="18" charset="0"/>
              </a:rPr>
              <a:t>False(0)</a:t>
            </a:r>
            <a:r>
              <a:rPr lang="en-IN" sz="3000" dirty="0">
                <a:latin typeface="Times New Roman" panose="02020603050405020304" pitchFamily="18" charset="0"/>
                <a:cs typeface="Times New Roman" panose="02020603050405020304" pitchFamily="18" charset="0"/>
              </a:rPr>
              <a:t> → No purchase.</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522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FD91-3191-3EA2-7CC3-51EC4E8D2E37}"/>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FE442534-FF9E-412A-1C5C-BAF9283DCDC4}"/>
              </a:ext>
            </a:extLst>
          </p:cNvPr>
          <p:cNvSpPr>
            <a:spLocks noGrp="1"/>
          </p:cNvSpPr>
          <p:nvPr>
            <p:ph idx="1"/>
          </p:nvPr>
        </p:nvSpPr>
        <p:spPr>
          <a:xfrm>
            <a:off x="0" y="1343818"/>
            <a:ext cx="12192000" cy="5514181"/>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1. Data Preprocessing:</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Cleaned and prepared the dataset for modeling.</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Applied </a:t>
            </a:r>
            <a:r>
              <a:rPr lang="en-US" sz="3000" b="1" dirty="0">
                <a:latin typeface="Times New Roman" panose="02020603050405020304" pitchFamily="18" charset="0"/>
                <a:cs typeface="Times New Roman" panose="02020603050405020304" pitchFamily="18" charset="0"/>
              </a:rPr>
              <a:t>label encoding</a:t>
            </a:r>
            <a:r>
              <a:rPr lang="en-US" sz="3000" dirty="0">
                <a:latin typeface="Times New Roman" panose="02020603050405020304" pitchFamily="18" charset="0"/>
                <a:cs typeface="Times New Roman" panose="02020603050405020304" pitchFamily="18" charset="0"/>
              </a:rPr>
              <a:t> to convert categorical features into numerical.</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Standardized numerical features to ensure uniform scale.</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Split the dataset into </a:t>
            </a:r>
            <a:r>
              <a:rPr lang="en-US" sz="3000" b="1" dirty="0">
                <a:latin typeface="Times New Roman" panose="02020603050405020304" pitchFamily="18" charset="0"/>
                <a:cs typeface="Times New Roman" panose="02020603050405020304" pitchFamily="18" charset="0"/>
              </a:rPr>
              <a:t>training and testing sets.</a:t>
            </a:r>
          </a:p>
          <a:p>
            <a:pPr algn="just"/>
            <a:endParaRPr lang="en-US" sz="3000" b="1" dirty="0">
              <a:latin typeface="Times New Roman" panose="02020603050405020304" pitchFamily="18" charset="0"/>
              <a:cs typeface="Times New Roman" panose="02020603050405020304" pitchFamily="18" charset="0"/>
            </a:endParaRPr>
          </a:p>
          <a:p>
            <a:pPr algn="just"/>
            <a:r>
              <a:rPr lang="en-IN" sz="3000" b="1" u="sng" dirty="0">
                <a:latin typeface="Times New Roman" panose="02020603050405020304" pitchFamily="18" charset="0"/>
                <a:cs typeface="Times New Roman" panose="02020603050405020304" pitchFamily="18" charset="0"/>
              </a:rPr>
              <a:t>2. Handling Class Imbalance:</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The dataset is highly imbalanced (few purchase cases).</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Applied </a:t>
            </a:r>
            <a:r>
              <a:rPr lang="en-US" sz="3000" b="1" dirty="0">
                <a:latin typeface="Times New Roman" panose="02020603050405020304" pitchFamily="18" charset="0"/>
                <a:cs typeface="Times New Roman" panose="02020603050405020304" pitchFamily="18" charset="0"/>
              </a:rPr>
              <a:t>SMOTE (Synthetic Minority Over-sampling Technique)</a:t>
            </a:r>
            <a:r>
              <a:rPr lang="en-US" sz="3000" dirty="0">
                <a:latin typeface="Times New Roman" panose="02020603050405020304" pitchFamily="18" charset="0"/>
                <a:cs typeface="Times New Roman" panose="02020603050405020304" pitchFamily="18" charset="0"/>
              </a:rPr>
              <a:t> on training data.</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6378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D9914-DED9-D576-232C-994A107C4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B674A-4EE6-DC49-0D8C-E0720DDB73AC}"/>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FEC591D1-20E6-1569-74A1-5D639D9829FF}"/>
              </a:ext>
            </a:extLst>
          </p:cNvPr>
          <p:cNvSpPr>
            <a:spLocks noGrp="1"/>
          </p:cNvSpPr>
          <p:nvPr>
            <p:ph idx="1"/>
          </p:nvPr>
        </p:nvSpPr>
        <p:spPr>
          <a:xfrm>
            <a:off x="0" y="1343818"/>
            <a:ext cx="12192000" cy="5514181"/>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3. Model Development:</a:t>
            </a:r>
          </a:p>
          <a:p>
            <a:pPr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Bivariate Model-</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Used </a:t>
            </a:r>
            <a:r>
              <a:rPr lang="en-US" sz="3000" b="1" dirty="0">
                <a:latin typeface="Times New Roman" panose="02020603050405020304" pitchFamily="18" charset="0"/>
                <a:cs typeface="Times New Roman" panose="02020603050405020304" pitchFamily="18" charset="0"/>
              </a:rPr>
              <a:t>Factorization Machines (FM).</a:t>
            </a: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Captures </a:t>
            </a:r>
            <a:r>
              <a:rPr lang="en-US" sz="3000" b="1" dirty="0">
                <a:latin typeface="Times New Roman" panose="02020603050405020304" pitchFamily="18" charset="0"/>
                <a:cs typeface="Times New Roman" panose="02020603050405020304" pitchFamily="18" charset="0"/>
              </a:rPr>
              <a:t>pairwise feature interactions</a:t>
            </a:r>
            <a:r>
              <a:rPr lang="en-US" sz="3000" dirty="0">
                <a:latin typeface="Times New Roman" panose="02020603050405020304" pitchFamily="18" charset="0"/>
                <a:cs typeface="Times New Roman" panose="02020603050405020304" pitchFamily="18" charset="0"/>
              </a:rPr>
              <a:t> (e.g., user–product relationships).</a:t>
            </a:r>
          </a:p>
          <a:p>
            <a:pPr marL="0" indent="0" algn="just">
              <a:buNone/>
            </a:pPr>
            <a:endParaRPr lang="en-US" sz="3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Multivariate Model-</a:t>
            </a: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Used </a:t>
            </a:r>
            <a:r>
              <a:rPr lang="en-US" sz="3000" b="1" dirty="0">
                <a:latin typeface="Times New Roman" panose="02020603050405020304" pitchFamily="18" charset="0"/>
                <a:cs typeface="Times New Roman" panose="02020603050405020304" pitchFamily="18" charset="0"/>
              </a:rPr>
              <a:t>Deep Neural Network (DNN).</a:t>
            </a: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dirty="0">
                <a:latin typeface="Times New Roman" panose="02020603050405020304" pitchFamily="18" charset="0"/>
                <a:cs typeface="Times New Roman" panose="02020603050405020304" pitchFamily="18" charset="0"/>
              </a:rPr>
              <a:t>Learns </a:t>
            </a:r>
            <a:r>
              <a:rPr lang="en-US" sz="3000" b="1" dirty="0">
                <a:latin typeface="Times New Roman" panose="02020603050405020304" pitchFamily="18" charset="0"/>
                <a:cs typeface="Times New Roman" panose="02020603050405020304" pitchFamily="18" charset="0"/>
              </a:rPr>
              <a:t>complex, non-linear, and higher-order patterns</a:t>
            </a:r>
            <a:r>
              <a:rPr lang="en-IN" sz="3000" b="1" dirty="0">
                <a:latin typeface="Times New Roman" panose="02020603050405020304" pitchFamily="18" charset="0"/>
                <a:cs typeface="Times New Roman" panose="02020603050405020304" pitchFamily="18" charset="0"/>
              </a:rPr>
              <a:t>.</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725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795F-FE6C-74C6-EFE4-84BEEF762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25A40-FA20-0318-7C28-C84D3C257AAA}"/>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E3A0B55B-E982-255D-FF2A-450E1EAE414C}"/>
              </a:ext>
            </a:extLst>
          </p:cNvPr>
          <p:cNvSpPr>
            <a:spLocks noGrp="1"/>
          </p:cNvSpPr>
          <p:nvPr>
            <p:ph idx="1"/>
          </p:nvPr>
        </p:nvSpPr>
        <p:spPr>
          <a:xfrm>
            <a:off x="0" y="1343818"/>
            <a:ext cx="12192000" cy="5514181"/>
          </a:xfrm>
        </p:spPr>
        <p:txBody>
          <a:bodyPr>
            <a:normAutofit/>
          </a:bodyPr>
          <a:lstStyle/>
          <a:p>
            <a:pPr algn="just">
              <a:buFont typeface="Wingdings" panose="05000000000000000000" pitchFamily="2" charset="2"/>
              <a:buChar char="Ø"/>
            </a:pPr>
            <a:r>
              <a:rPr lang="en-IN" sz="3000" b="1" dirty="0">
                <a:latin typeface="Times New Roman" panose="02020603050405020304" pitchFamily="18" charset="0"/>
                <a:cs typeface="Times New Roman" panose="02020603050405020304" pitchFamily="18" charset="0"/>
              </a:rPr>
              <a:t>Hybrid Models:</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DeepFM</a:t>
            </a:r>
            <a:r>
              <a:rPr lang="en-IN" sz="3000" dirty="0">
                <a:latin typeface="Times New Roman" panose="02020603050405020304" pitchFamily="18" charset="0"/>
                <a:cs typeface="Times New Roman" panose="02020603050405020304" pitchFamily="18" charset="0"/>
              </a:rPr>
              <a:t> → Combines FM + DNN.</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xDeepFM</a:t>
            </a:r>
            <a:r>
              <a:rPr lang="en-IN" sz="3000" dirty="0">
                <a:latin typeface="Times New Roman" panose="02020603050405020304" pitchFamily="18" charset="0"/>
                <a:cs typeface="Times New Roman" panose="02020603050405020304" pitchFamily="18" charset="0"/>
              </a:rPr>
              <a:t> → Explicitly models higher-order interactions.</a:t>
            </a:r>
          </a:p>
          <a:p>
            <a:pPr marL="514350" indent="-514350" algn="just">
              <a:buFont typeface="+mj-lt"/>
              <a:buAutoNum type="arabicPeriod"/>
            </a:pPr>
            <a:r>
              <a:rPr lang="en-IN" sz="3000" b="1" dirty="0" err="1">
                <a:latin typeface="Times New Roman" panose="02020603050405020304" pitchFamily="18" charset="0"/>
                <a:cs typeface="Times New Roman" panose="02020603050405020304" pitchFamily="18" charset="0"/>
              </a:rPr>
              <a:t>AutoInt</a:t>
            </a:r>
            <a:r>
              <a:rPr lang="en-IN" sz="3000" dirty="0">
                <a:latin typeface="Times New Roman" panose="02020603050405020304" pitchFamily="18" charset="0"/>
                <a:cs typeface="Times New Roman" panose="02020603050405020304" pitchFamily="18" charset="0"/>
              </a:rPr>
              <a:t> → Uses self-attention to learn feature relationships.</a:t>
            </a:r>
          </a:p>
          <a:p>
            <a:pPr algn="just"/>
            <a:endParaRPr lang="en-US" sz="3000" dirty="0">
              <a:latin typeface="Times New Roman" panose="02020603050405020304" pitchFamily="18" charset="0"/>
              <a:cs typeface="Times New Roman" panose="02020603050405020304" pitchFamily="18" charset="0"/>
            </a:endParaRPr>
          </a:p>
          <a:p>
            <a:pPr algn="just"/>
            <a:r>
              <a:rPr lang="en-IN" sz="3000" b="1" u="sng" dirty="0">
                <a:latin typeface="Times New Roman" panose="02020603050405020304" pitchFamily="18" charset="0"/>
                <a:cs typeface="Times New Roman" panose="02020603050405020304" pitchFamily="18" charset="0"/>
              </a:rPr>
              <a:t>4. Model Training:</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Implemented using </a:t>
            </a:r>
            <a:r>
              <a:rPr lang="en-IN" sz="3000" b="1" dirty="0" err="1">
                <a:latin typeface="Times New Roman" panose="02020603050405020304" pitchFamily="18" charset="0"/>
                <a:cs typeface="Times New Roman" panose="02020603050405020304" pitchFamily="18" charset="0"/>
              </a:rPr>
              <a:t>PyTorch</a:t>
            </a:r>
            <a:r>
              <a:rPr lang="en-IN" sz="3000" b="1"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Optimizer: </a:t>
            </a:r>
            <a:r>
              <a:rPr lang="en-IN" sz="3000" b="1" dirty="0">
                <a:latin typeface="Times New Roman" panose="02020603050405020304" pitchFamily="18" charset="0"/>
                <a:cs typeface="Times New Roman" panose="02020603050405020304" pitchFamily="18" charset="0"/>
              </a:rPr>
              <a:t>Adam.</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Loss Function: </a:t>
            </a:r>
            <a:r>
              <a:rPr lang="en-IN" sz="3000" b="1" dirty="0">
                <a:latin typeface="Times New Roman" panose="02020603050405020304" pitchFamily="18" charset="0"/>
                <a:cs typeface="Times New Roman" panose="02020603050405020304" pitchFamily="18" charset="0"/>
              </a:rPr>
              <a:t>Binary Cross-Entropy.</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6998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E89D-F460-4E46-E155-266FE2D38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71C69-106D-5656-55C0-931EFDC018F5}"/>
              </a:ext>
            </a:extLst>
          </p:cNvPr>
          <p:cNvSpPr>
            <a:spLocks noGrp="1"/>
          </p:cNvSpPr>
          <p:nvPr>
            <p:ph type="title"/>
          </p:nvPr>
        </p:nvSpPr>
        <p:spPr>
          <a:xfrm>
            <a:off x="-9832" y="18255"/>
            <a:ext cx="12169877" cy="1325563"/>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572E4D7A-831A-0C09-D100-C8DEF406BC63}"/>
              </a:ext>
            </a:extLst>
          </p:cNvPr>
          <p:cNvSpPr>
            <a:spLocks noGrp="1"/>
          </p:cNvSpPr>
          <p:nvPr>
            <p:ph sz="half" idx="1"/>
          </p:nvPr>
        </p:nvSpPr>
        <p:spPr>
          <a:xfrm>
            <a:off x="0" y="1343816"/>
            <a:ext cx="6096000" cy="5495929"/>
          </a:xfrm>
        </p:spPr>
        <p:txBody>
          <a:bodyPr>
            <a:normAutofit/>
          </a:bodyPr>
          <a:lstStyle/>
          <a:p>
            <a:pPr algn="just"/>
            <a:r>
              <a:rPr lang="en-IN" sz="3000" b="1" u="sng" dirty="0">
                <a:latin typeface="Times New Roman" panose="02020603050405020304" pitchFamily="18" charset="0"/>
                <a:cs typeface="Times New Roman" panose="02020603050405020304" pitchFamily="18" charset="0"/>
              </a:rPr>
              <a:t>5. Evaluation:</a:t>
            </a:r>
          </a:p>
          <a:p>
            <a:pPr algn="just">
              <a:buFont typeface="Wingdings" panose="05000000000000000000" pitchFamily="2" charset="2"/>
              <a:buChar char="Ø"/>
            </a:pPr>
            <a:r>
              <a:rPr lang="en-IN" sz="3000" dirty="0">
                <a:latin typeface="Times New Roman" panose="02020603050405020304" pitchFamily="18" charset="0"/>
                <a:cs typeface="Times New Roman" panose="02020603050405020304" pitchFamily="18" charset="0"/>
              </a:rPr>
              <a:t>Models evaluated using:</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Accuracy</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Precision</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Recall</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F1-Score</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AUC (ROC)</a:t>
            </a:r>
            <a:endParaRPr lang="en-US" sz="3000"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630D71A8-046D-D667-05BE-77E1A4F3C093}"/>
              </a:ext>
            </a:extLst>
          </p:cNvPr>
          <p:cNvSpPr>
            <a:spLocks noGrp="1"/>
          </p:cNvSpPr>
          <p:nvPr>
            <p:ph sz="half" idx="2"/>
          </p:nvPr>
        </p:nvSpPr>
        <p:spPr>
          <a:xfrm>
            <a:off x="6096000" y="1343816"/>
            <a:ext cx="6096000" cy="5495927"/>
          </a:xfrm>
        </p:spPr>
        <p:txBody>
          <a:bodyPr>
            <a:normAutofit/>
          </a:bodyPr>
          <a:lstStyle/>
          <a:p>
            <a:pPr marL="0" indent="0" algn="just">
              <a:buNone/>
            </a:pPr>
            <a:endParaRPr lang="en-IN" sz="3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3000" dirty="0">
                <a:latin typeface="Times New Roman" panose="02020603050405020304" pitchFamily="18" charset="0"/>
                <a:cs typeface="Times New Roman" panose="02020603050405020304" pitchFamily="18" charset="0"/>
              </a:rPr>
              <a:t>Compared performance across:</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Traditional models</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Bivariate models</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Multivariate models</a:t>
            </a:r>
          </a:p>
          <a:p>
            <a:pPr marL="514350" indent="-514350" algn="just">
              <a:buFont typeface="+mj-lt"/>
              <a:buAutoNum type="arabicPeriod"/>
            </a:pPr>
            <a:r>
              <a:rPr lang="en-IN" sz="3000" dirty="0">
                <a:latin typeface="Times New Roman" panose="02020603050405020304" pitchFamily="18" charset="0"/>
                <a:cs typeface="Times New Roman" panose="02020603050405020304" pitchFamily="18" charset="0"/>
              </a:rPr>
              <a:t>Hybrid models</a:t>
            </a:r>
          </a:p>
        </p:txBody>
      </p:sp>
    </p:spTree>
    <p:extLst>
      <p:ext uri="{BB962C8B-B14F-4D97-AF65-F5344CB8AC3E}">
        <p14:creationId xmlns:p14="http://schemas.microsoft.com/office/powerpoint/2010/main" val="3238426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51758-E67A-208D-4259-993930DCAF7B}"/>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Results And Performance Analysis</a:t>
            </a:r>
          </a:p>
        </p:txBody>
      </p:sp>
      <p:sp>
        <p:nvSpPr>
          <p:cNvPr id="3" name="Content Placeholder 2">
            <a:extLst>
              <a:ext uri="{FF2B5EF4-FFF2-40B4-BE49-F238E27FC236}">
                <a16:creationId xmlns:a16="http://schemas.microsoft.com/office/drawing/2014/main" id="{99938F7C-CA73-A704-E5E4-3BC958D31EEA}"/>
              </a:ext>
            </a:extLst>
          </p:cNvPr>
          <p:cNvSpPr>
            <a:spLocks noGrp="1"/>
          </p:cNvSpPr>
          <p:nvPr>
            <p:ph idx="1"/>
          </p:nvPr>
        </p:nvSpPr>
        <p:spPr>
          <a:xfrm>
            <a:off x="0" y="1343819"/>
            <a:ext cx="12192000" cy="5514180"/>
          </a:xfrm>
        </p:spPr>
        <p:txBody>
          <a:bodyPr>
            <a:normAutofit/>
          </a:bodyPr>
          <a:lstStyle/>
          <a:p>
            <a:pPr algn="just"/>
            <a:r>
              <a:rPr lang="en-US" sz="3000" dirty="0">
                <a:latin typeface="Times New Roman" panose="02020603050405020304" pitchFamily="18" charset="0"/>
                <a:cs typeface="Times New Roman" panose="02020603050405020304" pitchFamily="18" charset="0"/>
              </a:rPr>
              <a:t>The models were evaluated on standard metrics including </a:t>
            </a:r>
            <a:r>
              <a:rPr lang="en-US" sz="3000" b="1" dirty="0">
                <a:latin typeface="Times New Roman" panose="02020603050405020304" pitchFamily="18" charset="0"/>
                <a:cs typeface="Times New Roman" panose="02020603050405020304" pitchFamily="18" charset="0"/>
              </a:rPr>
              <a:t>Accuracy, Precision, Recall, F1-score, and AUC.</a:t>
            </a:r>
          </a:p>
          <a:p>
            <a:pPr algn="just"/>
            <a:r>
              <a:rPr lang="en-IN" sz="3000" dirty="0">
                <a:latin typeface="Times New Roman" panose="02020603050405020304" pitchFamily="18" charset="0"/>
                <a:cs typeface="Times New Roman" panose="02020603050405020304" pitchFamily="18" charset="0"/>
              </a:rPr>
              <a:t>Performance was compared across </a:t>
            </a:r>
            <a:r>
              <a:rPr lang="en-IN" sz="3000" b="1" dirty="0">
                <a:latin typeface="Times New Roman" panose="02020603050405020304" pitchFamily="18" charset="0"/>
                <a:cs typeface="Times New Roman" panose="02020603050405020304" pitchFamily="18" charset="0"/>
              </a:rPr>
              <a:t>bivariate (FM), multivariate (DNN), and hybrid models (</a:t>
            </a:r>
            <a:r>
              <a:rPr lang="en-IN" sz="3000" b="1" dirty="0" err="1">
                <a:latin typeface="Times New Roman" panose="02020603050405020304" pitchFamily="18" charset="0"/>
                <a:cs typeface="Times New Roman" panose="02020603050405020304" pitchFamily="18" charset="0"/>
              </a:rPr>
              <a:t>DeepFM</a:t>
            </a:r>
            <a:r>
              <a:rPr lang="en-IN" sz="3000" b="1" dirty="0">
                <a:latin typeface="Times New Roman" panose="02020603050405020304" pitchFamily="18" charset="0"/>
                <a:cs typeface="Times New Roman" panose="02020603050405020304" pitchFamily="18" charset="0"/>
              </a:rPr>
              <a:t>, </a:t>
            </a:r>
            <a:r>
              <a:rPr lang="en-IN" sz="3000" b="1" dirty="0" err="1">
                <a:latin typeface="Times New Roman" panose="02020603050405020304" pitchFamily="18" charset="0"/>
                <a:cs typeface="Times New Roman" panose="02020603050405020304" pitchFamily="18" charset="0"/>
              </a:rPr>
              <a:t>xDeepFM</a:t>
            </a:r>
            <a:r>
              <a:rPr lang="en-IN" sz="3000" b="1" dirty="0">
                <a:latin typeface="Times New Roman" panose="02020603050405020304" pitchFamily="18" charset="0"/>
                <a:cs typeface="Times New Roman" panose="02020603050405020304" pitchFamily="18" charset="0"/>
              </a:rPr>
              <a:t>, </a:t>
            </a:r>
            <a:r>
              <a:rPr lang="en-IN" sz="3000" b="1" dirty="0" err="1">
                <a:latin typeface="Times New Roman" panose="02020603050405020304" pitchFamily="18" charset="0"/>
                <a:cs typeface="Times New Roman" panose="02020603050405020304" pitchFamily="18" charset="0"/>
              </a:rPr>
              <a:t>AutoInt</a:t>
            </a:r>
            <a:r>
              <a:rPr lang="en-IN" sz="3000" b="1" dirty="0">
                <a:latin typeface="Times New Roman" panose="02020603050405020304" pitchFamily="18" charset="0"/>
                <a:cs typeface="Times New Roman" panose="02020603050405020304" pitchFamily="18" charset="0"/>
              </a:rPr>
              <a:t>).</a:t>
            </a:r>
          </a:p>
          <a:p>
            <a:pPr algn="just"/>
            <a:r>
              <a:rPr lang="en-US" sz="3000" b="1" dirty="0">
                <a:latin typeface="Times New Roman" panose="02020603050405020304" pitchFamily="18" charset="0"/>
                <a:cs typeface="Times New Roman" panose="02020603050405020304" pitchFamily="18" charset="0"/>
              </a:rPr>
              <a:t>Factorization Machines (FM)</a:t>
            </a:r>
            <a:r>
              <a:rPr lang="en-US" sz="3000" dirty="0">
                <a:latin typeface="Times New Roman" panose="02020603050405020304" pitchFamily="18" charset="0"/>
                <a:cs typeface="Times New Roman" panose="02020603050405020304" pitchFamily="18" charset="0"/>
              </a:rPr>
              <a:t> improved prediction by capturing pairwise interactions, but showed </a:t>
            </a:r>
            <a:r>
              <a:rPr lang="en-US" sz="3000" b="1" dirty="0">
                <a:latin typeface="Times New Roman" panose="02020603050405020304" pitchFamily="18" charset="0"/>
                <a:cs typeface="Times New Roman" panose="02020603050405020304" pitchFamily="18" charset="0"/>
              </a:rPr>
              <a:t>lower recall</a:t>
            </a:r>
            <a:r>
              <a:rPr lang="en-US" sz="3000" dirty="0">
                <a:latin typeface="Times New Roman" panose="02020603050405020304" pitchFamily="18" charset="0"/>
                <a:cs typeface="Times New Roman" panose="02020603050405020304" pitchFamily="18" charset="0"/>
              </a:rPr>
              <a:t> for purchase cases</a:t>
            </a:r>
          </a:p>
          <a:p>
            <a:pPr algn="just"/>
            <a:r>
              <a:rPr lang="en-US" sz="3000" b="1" dirty="0">
                <a:latin typeface="Times New Roman" panose="02020603050405020304" pitchFamily="18" charset="0"/>
                <a:cs typeface="Times New Roman" panose="02020603050405020304" pitchFamily="18" charset="0"/>
              </a:rPr>
              <a:t>Deep Neural Network (DNN)</a:t>
            </a:r>
            <a:r>
              <a:rPr lang="en-US" sz="3000" dirty="0">
                <a:latin typeface="Times New Roman" panose="02020603050405020304" pitchFamily="18" charset="0"/>
                <a:cs typeface="Times New Roman" panose="02020603050405020304" pitchFamily="18" charset="0"/>
              </a:rPr>
              <a:t> performed better than FM by capturing </a:t>
            </a:r>
            <a:r>
              <a:rPr lang="en-US" sz="3000" b="1" dirty="0">
                <a:latin typeface="Times New Roman" panose="02020603050405020304" pitchFamily="18" charset="0"/>
                <a:cs typeface="Times New Roman" panose="02020603050405020304" pitchFamily="18" charset="0"/>
              </a:rPr>
              <a:t>non-linear behavioral patterns.</a:t>
            </a:r>
          </a:p>
          <a:p>
            <a:pPr algn="just"/>
            <a:r>
              <a:rPr lang="en-US" sz="3000" b="1" dirty="0">
                <a:latin typeface="Times New Roman" panose="02020603050405020304" pitchFamily="18" charset="0"/>
                <a:cs typeface="Times New Roman" panose="02020603050405020304" pitchFamily="18" charset="0"/>
              </a:rPr>
              <a:t>Hybrid models (</a:t>
            </a:r>
            <a:r>
              <a:rPr lang="en-US" sz="3000" b="1" dirty="0" err="1">
                <a:latin typeface="Times New Roman" panose="02020603050405020304" pitchFamily="18" charset="0"/>
                <a:cs typeface="Times New Roman" panose="02020603050405020304" pitchFamily="18" charset="0"/>
              </a:rPr>
              <a:t>DeepFM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xDeepFM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AutoInt</a:t>
            </a:r>
            <a:r>
              <a:rPr lang="en-US" sz="3000" b="1"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 achieved the </a:t>
            </a:r>
            <a:r>
              <a:rPr lang="en-US" sz="3000" b="1" dirty="0">
                <a:latin typeface="Times New Roman" panose="02020603050405020304" pitchFamily="18" charset="0"/>
                <a:cs typeface="Times New Roman" panose="02020603050405020304" pitchFamily="18" charset="0"/>
              </a:rPr>
              <a:t>best overall performance</a:t>
            </a:r>
            <a:r>
              <a:rPr lang="en-US" sz="3000" dirty="0">
                <a:latin typeface="Times New Roman" panose="02020603050405020304" pitchFamily="18" charset="0"/>
                <a:cs typeface="Times New Roman" panose="02020603050405020304" pitchFamily="18" charset="0"/>
              </a:rPr>
              <a:t>, as they combine both low-order and high-order feature interactions.</a:t>
            </a:r>
          </a:p>
        </p:txBody>
      </p:sp>
    </p:spTree>
    <p:extLst>
      <p:ext uri="{BB962C8B-B14F-4D97-AF65-F5344CB8AC3E}">
        <p14:creationId xmlns:p14="http://schemas.microsoft.com/office/powerpoint/2010/main" val="332370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3A74B-CB4B-084C-30FB-6B90975B1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02077-4FB1-B315-1682-894B6A82E066}"/>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Results And Performance Analysis</a:t>
            </a:r>
          </a:p>
        </p:txBody>
      </p:sp>
      <p:sp>
        <p:nvSpPr>
          <p:cNvPr id="3" name="Content Placeholder 2">
            <a:extLst>
              <a:ext uri="{FF2B5EF4-FFF2-40B4-BE49-F238E27FC236}">
                <a16:creationId xmlns:a16="http://schemas.microsoft.com/office/drawing/2014/main" id="{A2465BE6-0AA6-0306-83DF-DA8388F1D8AE}"/>
              </a:ext>
            </a:extLst>
          </p:cNvPr>
          <p:cNvSpPr>
            <a:spLocks noGrp="1"/>
          </p:cNvSpPr>
          <p:nvPr>
            <p:ph idx="1"/>
          </p:nvPr>
        </p:nvSpPr>
        <p:spPr>
          <a:xfrm>
            <a:off x="0" y="1343819"/>
            <a:ext cx="12192000" cy="5514180"/>
          </a:xfrm>
        </p:spPr>
        <p:txBody>
          <a:bodyPr>
            <a:normAutofit/>
          </a:bodyPr>
          <a:lstStyle/>
          <a:p>
            <a:pPr algn="just"/>
            <a:r>
              <a:rPr lang="en-US" sz="3000" dirty="0">
                <a:latin typeface="Times New Roman" panose="02020603050405020304" pitchFamily="18" charset="0"/>
                <a:cs typeface="Times New Roman" panose="02020603050405020304" pitchFamily="18" charset="0"/>
              </a:rPr>
              <a:t>Applying </a:t>
            </a:r>
            <a:r>
              <a:rPr lang="en-US" sz="3000" b="1" dirty="0">
                <a:latin typeface="Times New Roman" panose="02020603050405020304" pitchFamily="18" charset="0"/>
                <a:cs typeface="Times New Roman" panose="02020603050405020304" pitchFamily="18" charset="0"/>
              </a:rPr>
              <a:t>SMOTE</a:t>
            </a:r>
            <a:r>
              <a:rPr lang="en-US" sz="3000" dirty="0">
                <a:latin typeface="Times New Roman" panose="02020603050405020304" pitchFamily="18" charset="0"/>
                <a:cs typeface="Times New Roman" panose="02020603050405020304" pitchFamily="18" charset="0"/>
              </a:rPr>
              <a:t> significantly improved </a:t>
            </a:r>
            <a:r>
              <a:rPr lang="en-US" sz="3000" b="1" dirty="0">
                <a:latin typeface="Times New Roman" panose="02020603050405020304" pitchFamily="18" charset="0"/>
                <a:cs typeface="Times New Roman" panose="02020603050405020304" pitchFamily="18" charset="0"/>
              </a:rPr>
              <a:t>recall and AUC</a:t>
            </a:r>
            <a:r>
              <a:rPr lang="en-US" sz="3000" dirty="0">
                <a:latin typeface="Times New Roman" panose="02020603050405020304" pitchFamily="18" charset="0"/>
                <a:cs typeface="Times New Roman" panose="02020603050405020304" pitchFamily="18" charset="0"/>
              </a:rPr>
              <a:t>, helping models better detect </a:t>
            </a:r>
            <a:r>
              <a:rPr lang="en-US" sz="3000" b="1" dirty="0">
                <a:latin typeface="Times New Roman" panose="02020603050405020304" pitchFamily="18" charset="0"/>
                <a:cs typeface="Times New Roman" panose="02020603050405020304" pitchFamily="18" charset="0"/>
              </a:rPr>
              <a:t>rare purchase events.</a:t>
            </a:r>
          </a:p>
          <a:p>
            <a:pPr marL="0" indent="0" algn="just">
              <a:buNone/>
            </a:pPr>
            <a:endParaRPr lang="en-US" sz="3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4778EBB-9D09-D8A1-A103-0FF7D35DAA7F}"/>
              </a:ext>
            </a:extLst>
          </p:cNvPr>
          <p:cNvGraphicFramePr>
            <a:graphicFrameLocks noGrp="1"/>
          </p:cNvGraphicFramePr>
          <p:nvPr>
            <p:extLst>
              <p:ext uri="{D42A27DB-BD31-4B8C-83A1-F6EECF244321}">
                <p14:modId xmlns:p14="http://schemas.microsoft.com/office/powerpoint/2010/main" val="1880688237"/>
              </p:ext>
            </p:extLst>
          </p:nvPr>
        </p:nvGraphicFramePr>
        <p:xfrm>
          <a:off x="604252" y="2550695"/>
          <a:ext cx="10946064" cy="3818022"/>
        </p:xfrm>
        <a:graphic>
          <a:graphicData uri="http://schemas.openxmlformats.org/drawingml/2006/table">
            <a:tbl>
              <a:tblPr firstRow="1" bandRow="1">
                <a:tableStyleId>{C083E6E3-FA7D-4D7B-A595-EF9225AFEA82}</a:tableStyleId>
              </a:tblPr>
              <a:tblGrid>
                <a:gridCol w="1824344">
                  <a:extLst>
                    <a:ext uri="{9D8B030D-6E8A-4147-A177-3AD203B41FA5}">
                      <a16:colId xmlns:a16="http://schemas.microsoft.com/office/drawing/2014/main" val="2465561431"/>
                    </a:ext>
                  </a:extLst>
                </a:gridCol>
                <a:gridCol w="1824344">
                  <a:extLst>
                    <a:ext uri="{9D8B030D-6E8A-4147-A177-3AD203B41FA5}">
                      <a16:colId xmlns:a16="http://schemas.microsoft.com/office/drawing/2014/main" val="3824206693"/>
                    </a:ext>
                  </a:extLst>
                </a:gridCol>
                <a:gridCol w="1824344">
                  <a:extLst>
                    <a:ext uri="{9D8B030D-6E8A-4147-A177-3AD203B41FA5}">
                      <a16:colId xmlns:a16="http://schemas.microsoft.com/office/drawing/2014/main" val="3135877469"/>
                    </a:ext>
                  </a:extLst>
                </a:gridCol>
                <a:gridCol w="1824344">
                  <a:extLst>
                    <a:ext uri="{9D8B030D-6E8A-4147-A177-3AD203B41FA5}">
                      <a16:colId xmlns:a16="http://schemas.microsoft.com/office/drawing/2014/main" val="771889416"/>
                    </a:ext>
                  </a:extLst>
                </a:gridCol>
                <a:gridCol w="1824344">
                  <a:extLst>
                    <a:ext uri="{9D8B030D-6E8A-4147-A177-3AD203B41FA5}">
                      <a16:colId xmlns:a16="http://schemas.microsoft.com/office/drawing/2014/main" val="2737150832"/>
                    </a:ext>
                  </a:extLst>
                </a:gridCol>
                <a:gridCol w="1824344">
                  <a:extLst>
                    <a:ext uri="{9D8B030D-6E8A-4147-A177-3AD203B41FA5}">
                      <a16:colId xmlns:a16="http://schemas.microsoft.com/office/drawing/2014/main" val="3493432313"/>
                    </a:ext>
                  </a:extLst>
                </a:gridCol>
              </a:tblGrid>
              <a:tr h="636337">
                <a:tc>
                  <a:txBody>
                    <a:bodyPr/>
                    <a:lstStyle/>
                    <a:p>
                      <a:r>
                        <a:rPr lang="en-IN" sz="3000" dirty="0">
                          <a:latin typeface="Times New Roman" panose="02020603050405020304" pitchFamily="18" charset="0"/>
                          <a:cs typeface="Times New Roman" panose="02020603050405020304" pitchFamily="18" charset="0"/>
                        </a:rPr>
                        <a:t>Model</a:t>
                      </a:r>
                    </a:p>
                  </a:txBody>
                  <a:tcPr/>
                </a:tc>
                <a:tc>
                  <a:txBody>
                    <a:bodyPr/>
                    <a:lstStyle/>
                    <a:p>
                      <a:r>
                        <a:rPr lang="en-IN" sz="3000" dirty="0">
                          <a:latin typeface="Times New Roman" panose="02020603050405020304" pitchFamily="18" charset="0"/>
                          <a:cs typeface="Times New Roman" panose="02020603050405020304" pitchFamily="18" charset="0"/>
                        </a:rPr>
                        <a:t>Accuracy</a:t>
                      </a:r>
                    </a:p>
                  </a:txBody>
                  <a:tcPr/>
                </a:tc>
                <a:tc>
                  <a:txBody>
                    <a:bodyPr/>
                    <a:lstStyle/>
                    <a:p>
                      <a:r>
                        <a:rPr lang="en-IN" sz="3000" dirty="0">
                          <a:latin typeface="Times New Roman" panose="02020603050405020304" pitchFamily="18" charset="0"/>
                          <a:cs typeface="Times New Roman" panose="02020603050405020304" pitchFamily="18" charset="0"/>
                        </a:rPr>
                        <a:t>Precision</a:t>
                      </a:r>
                    </a:p>
                  </a:txBody>
                  <a:tcPr/>
                </a:tc>
                <a:tc>
                  <a:txBody>
                    <a:bodyPr/>
                    <a:lstStyle/>
                    <a:p>
                      <a:r>
                        <a:rPr lang="en-IN" sz="3000" dirty="0">
                          <a:latin typeface="Times New Roman" panose="02020603050405020304" pitchFamily="18" charset="0"/>
                          <a:cs typeface="Times New Roman" panose="02020603050405020304" pitchFamily="18" charset="0"/>
                        </a:rPr>
                        <a:t>Recall</a:t>
                      </a:r>
                    </a:p>
                  </a:txBody>
                  <a:tcPr/>
                </a:tc>
                <a:tc>
                  <a:txBody>
                    <a:bodyPr/>
                    <a:lstStyle/>
                    <a:p>
                      <a:r>
                        <a:rPr lang="en-IN" sz="3000" dirty="0">
                          <a:latin typeface="Times New Roman" panose="02020603050405020304" pitchFamily="18" charset="0"/>
                          <a:cs typeface="Times New Roman" panose="02020603050405020304" pitchFamily="18" charset="0"/>
                        </a:rPr>
                        <a:t>F1-Score</a:t>
                      </a:r>
                    </a:p>
                  </a:txBody>
                  <a:tcPr/>
                </a:tc>
                <a:tc>
                  <a:txBody>
                    <a:bodyPr/>
                    <a:lstStyle/>
                    <a:p>
                      <a:r>
                        <a:rPr lang="en-IN" sz="3000" dirty="0">
                          <a:latin typeface="Times New Roman" panose="02020603050405020304" pitchFamily="18" charset="0"/>
                          <a:cs typeface="Times New Roman" panose="02020603050405020304" pitchFamily="18" charset="0"/>
                        </a:rPr>
                        <a:t>AUC</a:t>
                      </a:r>
                    </a:p>
                  </a:txBody>
                  <a:tcPr/>
                </a:tc>
                <a:extLst>
                  <a:ext uri="{0D108BD9-81ED-4DB2-BD59-A6C34878D82A}">
                    <a16:rowId xmlns:a16="http://schemas.microsoft.com/office/drawing/2014/main" val="1182761849"/>
                  </a:ext>
                </a:extLst>
              </a:tr>
              <a:tr h="636337">
                <a:tc>
                  <a:txBody>
                    <a:bodyPr/>
                    <a:lstStyle/>
                    <a:p>
                      <a:r>
                        <a:rPr lang="en-IN" sz="3000" dirty="0">
                          <a:latin typeface="Times New Roman" panose="02020603050405020304" pitchFamily="18" charset="0"/>
                          <a:cs typeface="Times New Roman" panose="02020603050405020304" pitchFamily="18" charset="0"/>
                        </a:rPr>
                        <a:t>FM</a:t>
                      </a:r>
                    </a:p>
                  </a:txBody>
                  <a:tcPr/>
                </a:tc>
                <a:tc>
                  <a:txBody>
                    <a:bodyPr/>
                    <a:lstStyle/>
                    <a:p>
                      <a:r>
                        <a:rPr lang="en-IN" sz="3000" dirty="0">
                          <a:latin typeface="Times New Roman" panose="02020603050405020304" pitchFamily="18" charset="0"/>
                          <a:cs typeface="Times New Roman" panose="02020603050405020304" pitchFamily="18" charset="0"/>
                        </a:rPr>
                        <a:t>0.88</a:t>
                      </a:r>
                    </a:p>
                  </a:txBody>
                  <a:tcPr/>
                </a:tc>
                <a:tc>
                  <a:txBody>
                    <a:bodyPr/>
                    <a:lstStyle/>
                    <a:p>
                      <a:r>
                        <a:rPr lang="en-IN" sz="3000" dirty="0">
                          <a:latin typeface="Times New Roman" panose="02020603050405020304" pitchFamily="18" charset="0"/>
                          <a:cs typeface="Times New Roman" panose="02020603050405020304" pitchFamily="18" charset="0"/>
                        </a:rPr>
                        <a:t>0.72</a:t>
                      </a:r>
                    </a:p>
                  </a:txBody>
                  <a:tcPr/>
                </a:tc>
                <a:tc>
                  <a:txBody>
                    <a:bodyPr/>
                    <a:lstStyle/>
                    <a:p>
                      <a:r>
                        <a:rPr lang="en-IN" sz="3000" dirty="0">
                          <a:latin typeface="Times New Roman" panose="02020603050405020304" pitchFamily="18" charset="0"/>
                          <a:cs typeface="Times New Roman" panose="02020603050405020304" pitchFamily="18" charset="0"/>
                        </a:rPr>
                        <a:t>0.54</a:t>
                      </a:r>
                    </a:p>
                  </a:txBody>
                  <a:tcPr/>
                </a:tc>
                <a:tc>
                  <a:txBody>
                    <a:bodyPr/>
                    <a:lstStyle/>
                    <a:p>
                      <a:r>
                        <a:rPr lang="en-IN" sz="3000" dirty="0">
                          <a:latin typeface="Times New Roman" panose="02020603050405020304" pitchFamily="18" charset="0"/>
                          <a:cs typeface="Times New Roman" panose="02020603050405020304" pitchFamily="18" charset="0"/>
                        </a:rPr>
                        <a:t>0.62</a:t>
                      </a:r>
                    </a:p>
                  </a:txBody>
                  <a:tcPr/>
                </a:tc>
                <a:tc>
                  <a:txBody>
                    <a:bodyPr/>
                    <a:lstStyle/>
                    <a:p>
                      <a:r>
                        <a:rPr lang="en-IN" sz="3000" dirty="0">
                          <a:latin typeface="Times New Roman" panose="02020603050405020304" pitchFamily="18" charset="0"/>
                          <a:cs typeface="Times New Roman" panose="02020603050405020304" pitchFamily="18" charset="0"/>
                        </a:rPr>
                        <a:t>0.81</a:t>
                      </a:r>
                    </a:p>
                  </a:txBody>
                  <a:tcPr/>
                </a:tc>
                <a:extLst>
                  <a:ext uri="{0D108BD9-81ED-4DB2-BD59-A6C34878D82A}">
                    <a16:rowId xmlns:a16="http://schemas.microsoft.com/office/drawing/2014/main" val="2895828629"/>
                  </a:ext>
                </a:extLst>
              </a:tr>
              <a:tr h="636337">
                <a:tc>
                  <a:txBody>
                    <a:bodyPr/>
                    <a:lstStyle/>
                    <a:p>
                      <a:r>
                        <a:rPr lang="en-IN" sz="3000" dirty="0">
                          <a:latin typeface="Times New Roman" panose="02020603050405020304" pitchFamily="18" charset="0"/>
                          <a:cs typeface="Times New Roman" panose="02020603050405020304" pitchFamily="18" charset="0"/>
                        </a:rPr>
                        <a:t>DNN</a:t>
                      </a:r>
                    </a:p>
                  </a:txBody>
                  <a:tcPr/>
                </a:tc>
                <a:tc>
                  <a:txBody>
                    <a:bodyPr/>
                    <a:lstStyle/>
                    <a:p>
                      <a:r>
                        <a:rPr lang="en-IN" sz="3000" dirty="0">
                          <a:latin typeface="Times New Roman" panose="02020603050405020304" pitchFamily="18" charset="0"/>
                          <a:cs typeface="Times New Roman" panose="02020603050405020304" pitchFamily="18" charset="0"/>
                        </a:rPr>
                        <a:t>0.90</a:t>
                      </a:r>
                    </a:p>
                  </a:txBody>
                  <a:tcPr/>
                </a:tc>
                <a:tc>
                  <a:txBody>
                    <a:bodyPr/>
                    <a:lstStyle/>
                    <a:p>
                      <a:r>
                        <a:rPr lang="en-IN" sz="3000" dirty="0">
                          <a:latin typeface="Times New Roman" panose="02020603050405020304" pitchFamily="18" charset="0"/>
                          <a:cs typeface="Times New Roman" panose="02020603050405020304" pitchFamily="18" charset="0"/>
                        </a:rPr>
                        <a:t>0.75</a:t>
                      </a:r>
                    </a:p>
                  </a:txBody>
                  <a:tcPr/>
                </a:tc>
                <a:tc>
                  <a:txBody>
                    <a:bodyPr/>
                    <a:lstStyle/>
                    <a:p>
                      <a:r>
                        <a:rPr lang="en-IN" sz="3000" dirty="0">
                          <a:latin typeface="Times New Roman" panose="02020603050405020304" pitchFamily="18" charset="0"/>
                          <a:cs typeface="Times New Roman" panose="02020603050405020304" pitchFamily="18" charset="0"/>
                        </a:rPr>
                        <a:t>0.63</a:t>
                      </a:r>
                    </a:p>
                  </a:txBody>
                  <a:tcPr/>
                </a:tc>
                <a:tc>
                  <a:txBody>
                    <a:bodyPr/>
                    <a:lstStyle/>
                    <a:p>
                      <a:r>
                        <a:rPr lang="en-IN" sz="3000" dirty="0">
                          <a:latin typeface="Times New Roman" panose="02020603050405020304" pitchFamily="18" charset="0"/>
                          <a:cs typeface="Times New Roman" panose="02020603050405020304" pitchFamily="18" charset="0"/>
                        </a:rPr>
                        <a:t>0.68</a:t>
                      </a:r>
                    </a:p>
                  </a:txBody>
                  <a:tcPr/>
                </a:tc>
                <a:tc>
                  <a:txBody>
                    <a:bodyPr/>
                    <a:lstStyle/>
                    <a:p>
                      <a:r>
                        <a:rPr lang="en-IN" sz="3000" dirty="0">
                          <a:latin typeface="Times New Roman" panose="02020603050405020304" pitchFamily="18" charset="0"/>
                          <a:cs typeface="Times New Roman" panose="02020603050405020304" pitchFamily="18" charset="0"/>
                        </a:rPr>
                        <a:t>0.86</a:t>
                      </a:r>
                    </a:p>
                  </a:txBody>
                  <a:tcPr/>
                </a:tc>
                <a:extLst>
                  <a:ext uri="{0D108BD9-81ED-4DB2-BD59-A6C34878D82A}">
                    <a16:rowId xmlns:a16="http://schemas.microsoft.com/office/drawing/2014/main" val="4221271000"/>
                  </a:ext>
                </a:extLst>
              </a:tr>
              <a:tr h="636337">
                <a:tc>
                  <a:txBody>
                    <a:bodyPr/>
                    <a:lstStyle/>
                    <a:p>
                      <a:r>
                        <a:rPr lang="en-IN" sz="3000" dirty="0" err="1">
                          <a:latin typeface="Times New Roman" panose="02020603050405020304" pitchFamily="18" charset="0"/>
                          <a:cs typeface="Times New Roman" panose="02020603050405020304" pitchFamily="18" charset="0"/>
                        </a:rPr>
                        <a:t>DeepFM</a:t>
                      </a:r>
                      <a:endParaRPr lang="en-IN" sz="3000" dirty="0">
                        <a:latin typeface="Times New Roman" panose="02020603050405020304" pitchFamily="18" charset="0"/>
                        <a:cs typeface="Times New Roman" panose="02020603050405020304" pitchFamily="18" charset="0"/>
                      </a:endParaRPr>
                    </a:p>
                  </a:txBody>
                  <a:tcPr/>
                </a:tc>
                <a:tc>
                  <a:txBody>
                    <a:bodyPr/>
                    <a:lstStyle/>
                    <a:p>
                      <a:r>
                        <a:rPr lang="en-IN" sz="3000" dirty="0">
                          <a:latin typeface="Times New Roman" panose="02020603050405020304" pitchFamily="18" charset="0"/>
                          <a:cs typeface="Times New Roman" panose="02020603050405020304" pitchFamily="18" charset="0"/>
                        </a:rPr>
                        <a:t>0.92</a:t>
                      </a:r>
                    </a:p>
                  </a:txBody>
                  <a:tcPr/>
                </a:tc>
                <a:tc>
                  <a:txBody>
                    <a:bodyPr/>
                    <a:lstStyle/>
                    <a:p>
                      <a:r>
                        <a:rPr lang="en-IN" sz="3000" dirty="0">
                          <a:latin typeface="Times New Roman" panose="02020603050405020304" pitchFamily="18" charset="0"/>
                          <a:cs typeface="Times New Roman" panose="02020603050405020304" pitchFamily="18" charset="0"/>
                        </a:rPr>
                        <a:t>0.79</a:t>
                      </a:r>
                    </a:p>
                  </a:txBody>
                  <a:tcPr/>
                </a:tc>
                <a:tc>
                  <a:txBody>
                    <a:bodyPr/>
                    <a:lstStyle/>
                    <a:p>
                      <a:r>
                        <a:rPr lang="en-IN" sz="3000" dirty="0">
                          <a:latin typeface="Times New Roman" panose="02020603050405020304" pitchFamily="18" charset="0"/>
                          <a:cs typeface="Times New Roman" panose="02020603050405020304" pitchFamily="18" charset="0"/>
                        </a:rPr>
                        <a:t>0.70</a:t>
                      </a:r>
                    </a:p>
                  </a:txBody>
                  <a:tcPr/>
                </a:tc>
                <a:tc>
                  <a:txBody>
                    <a:bodyPr/>
                    <a:lstStyle/>
                    <a:p>
                      <a:r>
                        <a:rPr lang="en-IN" sz="3000" dirty="0">
                          <a:latin typeface="Times New Roman" panose="02020603050405020304" pitchFamily="18" charset="0"/>
                          <a:cs typeface="Times New Roman" panose="02020603050405020304" pitchFamily="18" charset="0"/>
                        </a:rPr>
                        <a:t>0.74</a:t>
                      </a:r>
                    </a:p>
                  </a:txBody>
                  <a:tcPr/>
                </a:tc>
                <a:tc>
                  <a:txBody>
                    <a:bodyPr/>
                    <a:lstStyle/>
                    <a:p>
                      <a:r>
                        <a:rPr lang="en-IN" sz="3000" dirty="0">
                          <a:latin typeface="Times New Roman" panose="02020603050405020304" pitchFamily="18" charset="0"/>
                          <a:cs typeface="Times New Roman" panose="02020603050405020304" pitchFamily="18" charset="0"/>
                        </a:rPr>
                        <a:t>0.89</a:t>
                      </a:r>
                    </a:p>
                  </a:txBody>
                  <a:tcPr/>
                </a:tc>
                <a:extLst>
                  <a:ext uri="{0D108BD9-81ED-4DB2-BD59-A6C34878D82A}">
                    <a16:rowId xmlns:a16="http://schemas.microsoft.com/office/drawing/2014/main" val="1901245753"/>
                  </a:ext>
                </a:extLst>
              </a:tr>
              <a:tr h="636337">
                <a:tc>
                  <a:txBody>
                    <a:bodyPr/>
                    <a:lstStyle/>
                    <a:p>
                      <a:r>
                        <a:rPr lang="en-IN" sz="3000" dirty="0" err="1">
                          <a:latin typeface="Times New Roman" panose="02020603050405020304" pitchFamily="18" charset="0"/>
                          <a:cs typeface="Times New Roman" panose="02020603050405020304" pitchFamily="18" charset="0"/>
                        </a:rPr>
                        <a:t>xDeepFM</a:t>
                      </a:r>
                      <a:endParaRPr lang="en-IN" sz="3000" dirty="0">
                        <a:latin typeface="Times New Roman" panose="02020603050405020304" pitchFamily="18" charset="0"/>
                        <a:cs typeface="Times New Roman" panose="02020603050405020304" pitchFamily="18" charset="0"/>
                      </a:endParaRPr>
                    </a:p>
                  </a:txBody>
                  <a:tcPr/>
                </a:tc>
                <a:tc>
                  <a:txBody>
                    <a:bodyPr/>
                    <a:lstStyle/>
                    <a:p>
                      <a:r>
                        <a:rPr lang="en-IN" sz="3000" dirty="0">
                          <a:latin typeface="Times New Roman" panose="02020603050405020304" pitchFamily="18" charset="0"/>
                          <a:cs typeface="Times New Roman" panose="02020603050405020304" pitchFamily="18" charset="0"/>
                        </a:rPr>
                        <a:t>0.93</a:t>
                      </a:r>
                    </a:p>
                  </a:txBody>
                  <a:tcPr/>
                </a:tc>
                <a:tc>
                  <a:txBody>
                    <a:bodyPr/>
                    <a:lstStyle/>
                    <a:p>
                      <a:r>
                        <a:rPr lang="en-IN" sz="3000" dirty="0">
                          <a:latin typeface="Times New Roman" panose="02020603050405020304" pitchFamily="18" charset="0"/>
                          <a:cs typeface="Times New Roman" panose="02020603050405020304" pitchFamily="18" charset="0"/>
                        </a:rPr>
                        <a:t>0.81</a:t>
                      </a:r>
                    </a:p>
                  </a:txBody>
                  <a:tcPr/>
                </a:tc>
                <a:tc>
                  <a:txBody>
                    <a:bodyPr/>
                    <a:lstStyle/>
                    <a:p>
                      <a:r>
                        <a:rPr lang="en-IN" sz="3000" dirty="0">
                          <a:latin typeface="Times New Roman" panose="02020603050405020304" pitchFamily="18" charset="0"/>
                          <a:cs typeface="Times New Roman" panose="02020603050405020304" pitchFamily="18" charset="0"/>
                        </a:rPr>
                        <a:t>0.73</a:t>
                      </a:r>
                    </a:p>
                  </a:txBody>
                  <a:tcPr/>
                </a:tc>
                <a:tc>
                  <a:txBody>
                    <a:bodyPr/>
                    <a:lstStyle/>
                    <a:p>
                      <a:r>
                        <a:rPr lang="en-IN" sz="3000" dirty="0">
                          <a:latin typeface="Times New Roman" panose="02020603050405020304" pitchFamily="18" charset="0"/>
                          <a:cs typeface="Times New Roman" panose="02020603050405020304" pitchFamily="18" charset="0"/>
                        </a:rPr>
                        <a:t>0.77</a:t>
                      </a:r>
                    </a:p>
                  </a:txBody>
                  <a:tcPr/>
                </a:tc>
                <a:tc>
                  <a:txBody>
                    <a:bodyPr/>
                    <a:lstStyle/>
                    <a:p>
                      <a:r>
                        <a:rPr lang="en-IN" sz="3000" dirty="0">
                          <a:latin typeface="Times New Roman" panose="02020603050405020304" pitchFamily="18" charset="0"/>
                          <a:cs typeface="Times New Roman" panose="02020603050405020304" pitchFamily="18" charset="0"/>
                        </a:rPr>
                        <a:t>0.91</a:t>
                      </a:r>
                    </a:p>
                  </a:txBody>
                  <a:tcPr/>
                </a:tc>
                <a:extLst>
                  <a:ext uri="{0D108BD9-81ED-4DB2-BD59-A6C34878D82A}">
                    <a16:rowId xmlns:a16="http://schemas.microsoft.com/office/drawing/2014/main" val="1152819809"/>
                  </a:ext>
                </a:extLst>
              </a:tr>
              <a:tr h="636337">
                <a:tc>
                  <a:txBody>
                    <a:bodyPr/>
                    <a:lstStyle/>
                    <a:p>
                      <a:r>
                        <a:rPr lang="en-IN" sz="3000" dirty="0" err="1">
                          <a:latin typeface="Times New Roman" panose="02020603050405020304" pitchFamily="18" charset="0"/>
                          <a:cs typeface="Times New Roman" panose="02020603050405020304" pitchFamily="18" charset="0"/>
                        </a:rPr>
                        <a:t>AutoInt</a:t>
                      </a:r>
                      <a:endParaRPr lang="en-IN" sz="3000" dirty="0">
                        <a:latin typeface="Times New Roman" panose="02020603050405020304" pitchFamily="18" charset="0"/>
                        <a:cs typeface="Times New Roman" panose="02020603050405020304" pitchFamily="18" charset="0"/>
                      </a:endParaRPr>
                    </a:p>
                  </a:txBody>
                  <a:tcPr/>
                </a:tc>
                <a:tc>
                  <a:txBody>
                    <a:bodyPr/>
                    <a:lstStyle/>
                    <a:p>
                      <a:r>
                        <a:rPr lang="en-IN" sz="3000" dirty="0">
                          <a:latin typeface="Times New Roman" panose="02020603050405020304" pitchFamily="18" charset="0"/>
                          <a:cs typeface="Times New Roman" panose="02020603050405020304" pitchFamily="18" charset="0"/>
                        </a:rPr>
                        <a:t>0.93</a:t>
                      </a:r>
                    </a:p>
                  </a:txBody>
                  <a:tcPr/>
                </a:tc>
                <a:tc>
                  <a:txBody>
                    <a:bodyPr/>
                    <a:lstStyle/>
                    <a:p>
                      <a:r>
                        <a:rPr lang="en-IN" sz="3000" dirty="0">
                          <a:latin typeface="Times New Roman" panose="02020603050405020304" pitchFamily="18" charset="0"/>
                          <a:cs typeface="Times New Roman" panose="02020603050405020304" pitchFamily="18" charset="0"/>
                        </a:rPr>
                        <a:t>0.82</a:t>
                      </a:r>
                    </a:p>
                  </a:txBody>
                  <a:tcPr/>
                </a:tc>
                <a:tc>
                  <a:txBody>
                    <a:bodyPr/>
                    <a:lstStyle/>
                    <a:p>
                      <a:r>
                        <a:rPr lang="en-IN" sz="3000" dirty="0">
                          <a:latin typeface="Times New Roman" panose="02020603050405020304" pitchFamily="18" charset="0"/>
                          <a:cs typeface="Times New Roman" panose="02020603050405020304" pitchFamily="18" charset="0"/>
                        </a:rPr>
                        <a:t>0.75</a:t>
                      </a:r>
                    </a:p>
                  </a:txBody>
                  <a:tcPr/>
                </a:tc>
                <a:tc>
                  <a:txBody>
                    <a:bodyPr/>
                    <a:lstStyle/>
                    <a:p>
                      <a:r>
                        <a:rPr lang="en-IN" sz="3000" dirty="0">
                          <a:latin typeface="Times New Roman" panose="02020603050405020304" pitchFamily="18" charset="0"/>
                          <a:cs typeface="Times New Roman" panose="02020603050405020304" pitchFamily="18" charset="0"/>
                        </a:rPr>
                        <a:t>0.78</a:t>
                      </a:r>
                    </a:p>
                  </a:txBody>
                  <a:tcPr/>
                </a:tc>
                <a:tc>
                  <a:txBody>
                    <a:bodyPr/>
                    <a:lstStyle/>
                    <a:p>
                      <a:r>
                        <a:rPr lang="en-IN" sz="3000" dirty="0">
                          <a:latin typeface="Times New Roman" panose="02020603050405020304" pitchFamily="18" charset="0"/>
                          <a:cs typeface="Times New Roman" panose="02020603050405020304" pitchFamily="18" charset="0"/>
                        </a:rPr>
                        <a:t>0.92</a:t>
                      </a:r>
                    </a:p>
                  </a:txBody>
                  <a:tcPr/>
                </a:tc>
                <a:extLst>
                  <a:ext uri="{0D108BD9-81ED-4DB2-BD59-A6C34878D82A}">
                    <a16:rowId xmlns:a16="http://schemas.microsoft.com/office/drawing/2014/main" val="201539027"/>
                  </a:ext>
                </a:extLst>
              </a:tr>
            </a:tbl>
          </a:graphicData>
        </a:graphic>
      </p:graphicFrame>
    </p:spTree>
    <p:extLst>
      <p:ext uri="{BB962C8B-B14F-4D97-AF65-F5344CB8AC3E}">
        <p14:creationId xmlns:p14="http://schemas.microsoft.com/office/powerpoint/2010/main" val="3733750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9E23-43AF-FA4E-FF0C-40C3EA280B33}"/>
              </a:ext>
            </a:extLst>
          </p:cNvPr>
          <p:cNvSpPr>
            <a:spLocks noGrp="1"/>
          </p:cNvSpPr>
          <p:nvPr>
            <p:ph type="title"/>
          </p:nvPr>
        </p:nvSpPr>
        <p:spPr>
          <a:xfrm>
            <a:off x="22122" y="18255"/>
            <a:ext cx="12169877" cy="1325563"/>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5FF9023-3C71-DF41-5C1D-2BC072317CBA}"/>
              </a:ext>
            </a:extLst>
          </p:cNvPr>
          <p:cNvSpPr>
            <a:spLocks noGrp="1"/>
          </p:cNvSpPr>
          <p:nvPr>
            <p:ph idx="1"/>
          </p:nvPr>
        </p:nvSpPr>
        <p:spPr>
          <a:xfrm>
            <a:off x="22122" y="1343818"/>
            <a:ext cx="12147756" cy="5514182"/>
          </a:xfrm>
        </p:spPr>
        <p:txBody>
          <a:bodyPr>
            <a:normAutofit/>
          </a:bodyPr>
          <a:lstStyle/>
          <a:p>
            <a:pPr algn="just"/>
            <a:r>
              <a:rPr lang="en-US" sz="3000" dirty="0">
                <a:latin typeface="Times New Roman" panose="02020603050405020304" pitchFamily="18" charset="0"/>
                <a:cs typeface="Times New Roman" panose="02020603050405020304" pitchFamily="18" charset="0"/>
              </a:rPr>
              <a:t>This project demonstrates that combining different modeling approaches leads to a more effective system for predicting purchase intent in e-commerce data.</a:t>
            </a:r>
          </a:p>
          <a:p>
            <a:pPr algn="just"/>
            <a:r>
              <a:rPr lang="en-US" sz="3000" dirty="0">
                <a:latin typeface="Times New Roman" panose="02020603050405020304" pitchFamily="18" charset="0"/>
                <a:cs typeface="Times New Roman" panose="02020603050405020304" pitchFamily="18" charset="0"/>
              </a:rPr>
              <a:t>By integrating both simple feature interactions and complex behavioral patterns, the hybrid models are able to better understand user decision-making.</a:t>
            </a:r>
          </a:p>
          <a:p>
            <a:pPr algn="just"/>
            <a:r>
              <a:rPr lang="en-US" sz="3000" dirty="0">
                <a:latin typeface="Times New Roman" panose="02020603050405020304" pitchFamily="18" charset="0"/>
                <a:cs typeface="Times New Roman" panose="02020603050405020304" pitchFamily="18" charset="0"/>
              </a:rPr>
              <a:t>The results show that relying on a single type of model is not sufficient for real-world data, especially when the dataset is highly imbalanced.</a:t>
            </a:r>
          </a:p>
          <a:p>
            <a:pPr algn="just"/>
            <a:r>
              <a:rPr lang="en-US" sz="3000" dirty="0">
                <a:latin typeface="Times New Roman" panose="02020603050405020304" pitchFamily="18" charset="0"/>
                <a:cs typeface="Times New Roman" panose="02020603050405020304" pitchFamily="18" charset="0"/>
              </a:rPr>
              <a:t>The proposed hybrid approach provides a more balanced and accurate prediction, making it suitable for practical applications such as recommendation systems and targeted marketing.</a:t>
            </a:r>
          </a:p>
        </p:txBody>
      </p:sp>
    </p:spTree>
    <p:extLst>
      <p:ext uri="{BB962C8B-B14F-4D97-AF65-F5344CB8AC3E}">
        <p14:creationId xmlns:p14="http://schemas.microsoft.com/office/powerpoint/2010/main" val="873747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AB29-EE18-E0D8-430E-7D069C4B87D2}"/>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10F6141E-6367-7EB2-A1EB-E4CD508AD0F6}"/>
              </a:ext>
            </a:extLst>
          </p:cNvPr>
          <p:cNvSpPr>
            <a:spLocks noGrp="1"/>
          </p:cNvSpPr>
          <p:nvPr>
            <p:ph idx="1"/>
          </p:nvPr>
        </p:nvSpPr>
        <p:spPr>
          <a:xfrm>
            <a:off x="0" y="1343818"/>
            <a:ext cx="12192000" cy="5514181"/>
          </a:xfrm>
        </p:spPr>
        <p:txBody>
          <a:bodyPr>
            <a:normAutofit/>
          </a:bodyPr>
          <a:lstStyle/>
          <a:p>
            <a:pPr algn="just"/>
            <a:r>
              <a:rPr lang="en-US" sz="3000" dirty="0">
                <a:latin typeface="Times New Roman" panose="02020603050405020304" pitchFamily="18" charset="0"/>
                <a:cs typeface="Times New Roman" panose="02020603050405020304" pitchFamily="18" charset="0"/>
              </a:rPr>
              <a:t>Hybrid models (</a:t>
            </a:r>
            <a:r>
              <a:rPr lang="en-US" sz="3000" b="1" dirty="0" err="1">
                <a:latin typeface="Times New Roman" panose="02020603050405020304" pitchFamily="18" charset="0"/>
                <a:cs typeface="Times New Roman" panose="02020603050405020304" pitchFamily="18" charset="0"/>
              </a:rPr>
              <a:t>DeepFM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xDeepFM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AutoInt</a:t>
            </a:r>
            <a:r>
              <a:rPr lang="en-US" sz="3000" dirty="0">
                <a:latin typeface="Times New Roman" panose="02020603050405020304" pitchFamily="18" charset="0"/>
                <a:cs typeface="Times New Roman" panose="02020603050405020304" pitchFamily="18" charset="0"/>
              </a:rPr>
              <a:t>) achieved the </a:t>
            </a:r>
            <a:r>
              <a:rPr lang="en-US" sz="3000" b="1" dirty="0">
                <a:latin typeface="Times New Roman" panose="02020603050405020304" pitchFamily="18" charset="0"/>
                <a:cs typeface="Times New Roman" panose="02020603050405020304" pitchFamily="18" charset="0"/>
              </a:rPr>
              <a:t>best overall performance.</a:t>
            </a:r>
          </a:p>
          <a:p>
            <a:pPr algn="just"/>
            <a:r>
              <a:rPr lang="en-US" sz="3000" dirty="0">
                <a:latin typeface="Times New Roman" panose="02020603050405020304" pitchFamily="18" charset="0"/>
                <a:cs typeface="Times New Roman" panose="02020603050405020304" pitchFamily="18" charset="0"/>
              </a:rPr>
              <a:t>Combining </a:t>
            </a:r>
            <a:r>
              <a:rPr lang="en-US" sz="3000" b="1" dirty="0">
                <a:latin typeface="Times New Roman" panose="02020603050405020304" pitchFamily="18" charset="0"/>
                <a:cs typeface="Times New Roman" panose="02020603050405020304" pitchFamily="18" charset="0"/>
              </a:rPr>
              <a:t>low-order (pairwise)</a:t>
            </a:r>
            <a:r>
              <a:rPr lang="en-US" sz="3000" dirty="0">
                <a:latin typeface="Times New Roman" panose="02020603050405020304" pitchFamily="18" charset="0"/>
                <a:cs typeface="Times New Roman" panose="02020603050405020304" pitchFamily="18" charset="0"/>
              </a:rPr>
              <a:t> and </a:t>
            </a:r>
            <a:r>
              <a:rPr lang="en-US" sz="3000" b="1" dirty="0">
                <a:latin typeface="Times New Roman" panose="02020603050405020304" pitchFamily="18" charset="0"/>
                <a:cs typeface="Times New Roman" panose="02020603050405020304" pitchFamily="18" charset="0"/>
              </a:rPr>
              <a:t>high-order (complex)</a:t>
            </a:r>
            <a:r>
              <a:rPr lang="en-US" sz="3000" dirty="0">
                <a:latin typeface="Times New Roman" panose="02020603050405020304" pitchFamily="18" charset="0"/>
                <a:cs typeface="Times New Roman" panose="02020603050405020304" pitchFamily="18" charset="0"/>
              </a:rPr>
              <a:t> interactions improves prediction accuracy.</a:t>
            </a:r>
          </a:p>
          <a:p>
            <a:pPr algn="just"/>
            <a:r>
              <a:rPr lang="en-US" sz="3000" b="1" dirty="0" err="1">
                <a:latin typeface="Times New Roman" panose="02020603050405020304" pitchFamily="18" charset="0"/>
                <a:cs typeface="Times New Roman" panose="02020603050405020304" pitchFamily="18" charset="0"/>
              </a:rPr>
              <a:t>AutoInt</a:t>
            </a:r>
            <a:r>
              <a:rPr lang="en-US" sz="3000" b="1" dirty="0">
                <a:latin typeface="Times New Roman" panose="02020603050405020304" pitchFamily="18" charset="0"/>
                <a:cs typeface="Times New Roman" panose="02020603050405020304" pitchFamily="18" charset="0"/>
              </a:rPr>
              <a:t> and </a:t>
            </a:r>
            <a:r>
              <a:rPr lang="en-US" sz="3000" b="1" dirty="0" err="1">
                <a:latin typeface="Times New Roman" panose="02020603050405020304" pitchFamily="18" charset="0"/>
                <a:cs typeface="Times New Roman" panose="02020603050405020304" pitchFamily="18" charset="0"/>
              </a:rPr>
              <a:t>xDeepFM</a:t>
            </a:r>
            <a:r>
              <a:rPr lang="en-US" sz="3000" dirty="0">
                <a:latin typeface="Times New Roman" panose="02020603050405020304" pitchFamily="18" charset="0"/>
                <a:cs typeface="Times New Roman" panose="02020603050405020304" pitchFamily="18" charset="0"/>
              </a:rPr>
              <a:t> performed particularly well due to their ability to capture deeper feature relationships.</a:t>
            </a:r>
          </a:p>
          <a:p>
            <a:pPr algn="just"/>
            <a:r>
              <a:rPr lang="en-US" sz="3000" dirty="0">
                <a:latin typeface="Times New Roman" panose="02020603050405020304" pitchFamily="18" charset="0"/>
                <a:cs typeface="Times New Roman" panose="02020603050405020304" pitchFamily="18" charset="0"/>
              </a:rPr>
              <a:t>Handling class imbalance using </a:t>
            </a:r>
            <a:r>
              <a:rPr lang="en-US" sz="3000" b="1" dirty="0">
                <a:latin typeface="Times New Roman" panose="02020603050405020304" pitchFamily="18" charset="0"/>
                <a:cs typeface="Times New Roman" panose="02020603050405020304" pitchFamily="18" charset="0"/>
              </a:rPr>
              <a:t>SMOTE</a:t>
            </a:r>
            <a:r>
              <a:rPr lang="en-US" sz="3000" dirty="0">
                <a:latin typeface="Times New Roman" panose="02020603050405020304" pitchFamily="18" charset="0"/>
                <a:cs typeface="Times New Roman" panose="02020603050405020304" pitchFamily="18" charset="0"/>
              </a:rPr>
              <a:t> significantly improved </a:t>
            </a:r>
            <a:r>
              <a:rPr lang="en-US" sz="3000" b="1" dirty="0">
                <a:latin typeface="Times New Roman" panose="02020603050405020304" pitchFamily="18" charset="0"/>
                <a:cs typeface="Times New Roman" panose="02020603050405020304" pitchFamily="18" charset="0"/>
              </a:rPr>
              <a:t>recall and AUC.</a:t>
            </a:r>
          </a:p>
          <a:p>
            <a:pPr algn="just"/>
            <a:r>
              <a:rPr lang="en-US" sz="3000" dirty="0">
                <a:latin typeface="Times New Roman" panose="02020603050405020304" pitchFamily="18" charset="0"/>
                <a:cs typeface="Times New Roman" panose="02020603050405020304" pitchFamily="18" charset="0"/>
              </a:rPr>
              <a:t>Detecting </a:t>
            </a:r>
            <a:r>
              <a:rPr lang="en-US" sz="3000" b="1" dirty="0">
                <a:latin typeface="Times New Roman" panose="02020603050405020304" pitchFamily="18" charset="0"/>
                <a:cs typeface="Times New Roman" panose="02020603050405020304" pitchFamily="18" charset="0"/>
              </a:rPr>
              <a:t>actual buyers (minority class)</a:t>
            </a:r>
            <a:r>
              <a:rPr lang="en-US" sz="3000" dirty="0">
                <a:latin typeface="Times New Roman" panose="02020603050405020304" pitchFamily="18" charset="0"/>
                <a:cs typeface="Times New Roman" panose="02020603050405020304" pitchFamily="18" charset="0"/>
              </a:rPr>
              <a:t> remains the most critical and challenging task.</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553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F64C6-8D2D-A592-D395-A3AAB3FAA583}"/>
              </a:ext>
            </a:extLst>
          </p:cNvPr>
          <p:cNvSpPr>
            <a:spLocks noGrp="1"/>
          </p:cNvSpPr>
          <p:nvPr>
            <p:ph type="title"/>
          </p:nvPr>
        </p:nvSpPr>
        <p:spPr>
          <a:xfrm>
            <a:off x="0" y="1"/>
            <a:ext cx="12192000" cy="1343818"/>
          </a:xfrm>
        </p:spPr>
        <p:txBody>
          <a:bodyPr/>
          <a:lstStyle/>
          <a:p>
            <a:r>
              <a:rPr lang="en-IN" b="1"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4612630A-E08D-10EA-7340-E46DBA0E26AC}"/>
              </a:ext>
            </a:extLst>
          </p:cNvPr>
          <p:cNvSpPr>
            <a:spLocks noGrp="1"/>
          </p:cNvSpPr>
          <p:nvPr>
            <p:ph idx="1"/>
          </p:nvPr>
        </p:nvSpPr>
        <p:spPr>
          <a:xfrm>
            <a:off x="0" y="1343819"/>
            <a:ext cx="12192000" cy="5514180"/>
          </a:xfrm>
        </p:spPr>
        <p:txBody>
          <a:bodyPr>
            <a:normAutofit/>
          </a:bodyPr>
          <a:lstStyle/>
          <a:p>
            <a:pPr algn="just"/>
            <a:r>
              <a:rPr lang="en-US" sz="3000" dirty="0">
                <a:latin typeface="Times New Roman" panose="02020603050405020304" pitchFamily="18" charset="0"/>
                <a:cs typeface="Times New Roman" panose="02020603050405020304" pitchFamily="18" charset="0"/>
              </a:rPr>
              <a:t>The dataset is </a:t>
            </a:r>
            <a:r>
              <a:rPr lang="en-US" sz="3000" b="1" dirty="0">
                <a:latin typeface="Times New Roman" panose="02020603050405020304" pitchFamily="18" charset="0"/>
                <a:cs typeface="Times New Roman" panose="02020603050405020304" pitchFamily="18" charset="0"/>
              </a:rPr>
              <a:t>highly imbalanced</a:t>
            </a:r>
            <a:r>
              <a:rPr lang="en-US" sz="3000" dirty="0">
                <a:latin typeface="Times New Roman" panose="02020603050405020304" pitchFamily="18" charset="0"/>
                <a:cs typeface="Times New Roman" panose="02020603050405020304" pitchFamily="18" charset="0"/>
              </a:rPr>
              <a:t>, which can still affect model performance despite SMOTE.</a:t>
            </a:r>
          </a:p>
          <a:p>
            <a:pPr algn="just"/>
            <a:r>
              <a:rPr lang="en-US" sz="3000" dirty="0">
                <a:latin typeface="Times New Roman" panose="02020603050405020304" pitchFamily="18" charset="0"/>
                <a:cs typeface="Times New Roman" panose="02020603050405020304" pitchFamily="18" charset="0"/>
              </a:rPr>
              <a:t>Models are trained on </a:t>
            </a:r>
            <a:r>
              <a:rPr lang="en-US" sz="3000" b="1" dirty="0">
                <a:latin typeface="Times New Roman" panose="02020603050405020304" pitchFamily="18" charset="0"/>
                <a:cs typeface="Times New Roman" panose="02020603050405020304" pitchFamily="18" charset="0"/>
              </a:rPr>
              <a:t>session-level data only</a:t>
            </a:r>
            <a:r>
              <a:rPr lang="en-US" sz="3000" dirty="0">
                <a:latin typeface="Times New Roman" panose="02020603050405020304" pitchFamily="18" charset="0"/>
                <a:cs typeface="Times New Roman" panose="02020603050405020304" pitchFamily="18" charset="0"/>
              </a:rPr>
              <a:t>, without long-term user history.</a:t>
            </a:r>
          </a:p>
          <a:p>
            <a:pPr algn="just"/>
            <a:r>
              <a:rPr lang="en-US" sz="3000" dirty="0">
                <a:latin typeface="Times New Roman" panose="02020603050405020304" pitchFamily="18" charset="0"/>
                <a:cs typeface="Times New Roman" panose="02020603050405020304" pitchFamily="18" charset="0"/>
              </a:rPr>
              <a:t>Deep and hybrid models require </a:t>
            </a:r>
            <a:r>
              <a:rPr lang="en-US" sz="3000" b="1" dirty="0">
                <a:latin typeface="Times New Roman" panose="02020603050405020304" pitchFamily="18" charset="0"/>
                <a:cs typeface="Times New Roman" panose="02020603050405020304" pitchFamily="18" charset="0"/>
              </a:rPr>
              <a:t>higher computational resources.</a:t>
            </a:r>
          </a:p>
          <a:p>
            <a:pPr algn="just"/>
            <a:r>
              <a:rPr lang="en-US" sz="3000" dirty="0">
                <a:latin typeface="Times New Roman" panose="02020603050405020304" pitchFamily="18" charset="0"/>
                <a:cs typeface="Times New Roman" panose="02020603050405020304" pitchFamily="18" charset="0"/>
              </a:rPr>
              <a:t>Results may vary across different e-commerce platforms or datasets.</a:t>
            </a:r>
          </a:p>
          <a:p>
            <a:pPr algn="just"/>
            <a:r>
              <a:rPr lang="en-US" sz="3000" dirty="0">
                <a:latin typeface="Times New Roman" panose="02020603050405020304" pitchFamily="18" charset="0"/>
                <a:cs typeface="Times New Roman" panose="02020603050405020304" pitchFamily="18" charset="0"/>
              </a:rPr>
              <a:t>Limited feature interpretability in complex models like </a:t>
            </a:r>
            <a:r>
              <a:rPr lang="en-US" sz="3000" b="1" dirty="0" err="1">
                <a:latin typeface="Times New Roman" panose="02020603050405020304" pitchFamily="18" charset="0"/>
                <a:cs typeface="Times New Roman" panose="02020603050405020304" pitchFamily="18" charset="0"/>
              </a:rPr>
              <a:t>AutoInt</a:t>
            </a:r>
            <a:r>
              <a:rPr lang="en-US" sz="3000" b="1" dirty="0">
                <a:latin typeface="Times New Roman" panose="02020603050405020304" pitchFamily="18" charset="0"/>
                <a:cs typeface="Times New Roman" panose="02020603050405020304" pitchFamily="18" charset="0"/>
              </a:rPr>
              <a:t> and deep networks.</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6359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A83D-59AC-EAEF-9957-93E10CEBB037}"/>
              </a:ext>
            </a:extLst>
          </p:cNvPr>
          <p:cNvSpPr>
            <a:spLocks noGrp="1"/>
          </p:cNvSpPr>
          <p:nvPr>
            <p:ph type="title"/>
          </p:nvPr>
        </p:nvSpPr>
        <p:spPr>
          <a:xfrm>
            <a:off x="22122" y="1"/>
            <a:ext cx="12169877" cy="1343818"/>
          </a:xfrm>
        </p:spPr>
        <p:txBody>
          <a:bodyPr/>
          <a:lstStyle/>
          <a:p>
            <a:r>
              <a:rPr lang="en-IN"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79C4B0C1-C77A-22CF-606C-36E8C8511573}"/>
              </a:ext>
            </a:extLst>
          </p:cNvPr>
          <p:cNvSpPr>
            <a:spLocks noGrp="1"/>
          </p:cNvSpPr>
          <p:nvPr>
            <p:ph idx="1"/>
          </p:nvPr>
        </p:nvSpPr>
        <p:spPr>
          <a:xfrm>
            <a:off x="22122" y="1343819"/>
            <a:ext cx="12169878" cy="5514180"/>
          </a:xfrm>
        </p:spPr>
        <p:txBody>
          <a:bodyPr>
            <a:noAutofit/>
          </a:bodyPr>
          <a:lstStyle/>
          <a:p>
            <a:pPr algn="just"/>
            <a:r>
              <a:rPr lang="en-IN" sz="3000" b="1" dirty="0">
                <a:latin typeface="Times New Roman" panose="02020603050405020304" pitchFamily="18" charset="0"/>
                <a:cs typeface="Times New Roman" panose="02020603050405020304" pitchFamily="18" charset="0"/>
              </a:rPr>
              <a:t>Personalized Recommendation Systems: </a:t>
            </a:r>
            <a:r>
              <a:rPr lang="en-US" sz="3000" dirty="0">
                <a:latin typeface="Times New Roman" panose="02020603050405020304" pitchFamily="18" charset="0"/>
                <a:cs typeface="Times New Roman" panose="02020603050405020304" pitchFamily="18" charset="0"/>
              </a:rPr>
              <a:t>Predicting purchase intent helps platforms recommend products that users are more likely to buy, improving user experience.</a:t>
            </a:r>
          </a:p>
          <a:p>
            <a:pPr algn="just"/>
            <a:r>
              <a:rPr lang="en-IN" sz="3000" b="1" dirty="0">
                <a:latin typeface="Times New Roman" panose="02020603050405020304" pitchFamily="18" charset="0"/>
                <a:cs typeface="Times New Roman" panose="02020603050405020304" pitchFamily="18" charset="0"/>
              </a:rPr>
              <a:t>Targeted Digital Marketing: </a:t>
            </a:r>
            <a:r>
              <a:rPr lang="en-US" sz="3000" dirty="0">
                <a:latin typeface="Times New Roman" panose="02020603050405020304" pitchFamily="18" charset="0"/>
                <a:cs typeface="Times New Roman" panose="02020603050405020304" pitchFamily="18" charset="0"/>
              </a:rPr>
              <a:t>Businesses can focus ads and offers on users with high purchase probability, reducing marketing cost and increasing conversion.</a:t>
            </a:r>
          </a:p>
          <a:p>
            <a:pPr algn="just"/>
            <a:r>
              <a:rPr lang="en-IN" sz="3000" b="1" dirty="0">
                <a:latin typeface="Times New Roman" panose="02020603050405020304" pitchFamily="18" charset="0"/>
                <a:cs typeface="Times New Roman" panose="02020603050405020304" pitchFamily="18" charset="0"/>
              </a:rPr>
              <a:t>E-commerce Conversion Optimization: </a:t>
            </a:r>
            <a:r>
              <a:rPr lang="en-US" sz="3000" dirty="0">
                <a:latin typeface="Times New Roman" panose="02020603050405020304" pitchFamily="18" charset="0"/>
                <a:cs typeface="Times New Roman" panose="02020603050405020304" pitchFamily="18" charset="0"/>
              </a:rPr>
              <a:t>Identifying high-intent users allows platforms to take timely actions (discounts, reminders) to increase sales.</a:t>
            </a:r>
          </a:p>
          <a:p>
            <a:pPr algn="just"/>
            <a:r>
              <a:rPr lang="en-IN" sz="3000" b="1" dirty="0">
                <a:latin typeface="Times New Roman" panose="02020603050405020304" pitchFamily="18" charset="0"/>
                <a:cs typeface="Times New Roman" panose="02020603050405020304" pitchFamily="18" charset="0"/>
              </a:rPr>
              <a:t>Customer Behaviour Analysis: </a:t>
            </a:r>
            <a:r>
              <a:rPr lang="en-US" sz="3000" dirty="0">
                <a:latin typeface="Times New Roman" panose="02020603050405020304" pitchFamily="18" charset="0"/>
                <a:cs typeface="Times New Roman" panose="02020603050405020304" pitchFamily="18" charset="0"/>
              </a:rPr>
              <a:t>Helps understand how users interact with the platform and what factors influence their buying decisions.</a:t>
            </a:r>
          </a:p>
        </p:txBody>
      </p:sp>
    </p:spTree>
    <p:extLst>
      <p:ext uri="{BB962C8B-B14F-4D97-AF65-F5344CB8AC3E}">
        <p14:creationId xmlns:p14="http://schemas.microsoft.com/office/powerpoint/2010/main" val="119177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5827-15F6-CE98-FA0F-592718472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7B3D5-D029-E118-8D80-8062C11A6E0B}"/>
              </a:ext>
            </a:extLst>
          </p:cNvPr>
          <p:cNvSpPr>
            <a:spLocks noGrp="1"/>
          </p:cNvSpPr>
          <p:nvPr>
            <p:ph type="title"/>
          </p:nvPr>
        </p:nvSpPr>
        <p:spPr>
          <a:xfrm>
            <a:off x="22122" y="1"/>
            <a:ext cx="12169877" cy="1343818"/>
          </a:xfrm>
        </p:spPr>
        <p:txBody>
          <a:bodyPr/>
          <a:lstStyle/>
          <a:p>
            <a:r>
              <a:rPr lang="en-IN"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1F6A5F4C-54E9-4F0D-AAC7-8538A1DF5BA4}"/>
              </a:ext>
            </a:extLst>
          </p:cNvPr>
          <p:cNvSpPr>
            <a:spLocks noGrp="1"/>
          </p:cNvSpPr>
          <p:nvPr>
            <p:ph idx="1"/>
          </p:nvPr>
        </p:nvSpPr>
        <p:spPr>
          <a:xfrm>
            <a:off x="22122" y="1343819"/>
            <a:ext cx="12169878" cy="5514180"/>
          </a:xfrm>
        </p:spPr>
        <p:txBody>
          <a:bodyPr>
            <a:noAutofit/>
          </a:bodyPr>
          <a:lstStyle/>
          <a:p>
            <a:pPr algn="just"/>
            <a:r>
              <a:rPr lang="en-IN" sz="3000" b="1" dirty="0">
                <a:latin typeface="Times New Roman" panose="02020603050405020304" pitchFamily="18" charset="0"/>
                <a:cs typeface="Times New Roman" panose="02020603050405020304" pitchFamily="18" charset="0"/>
              </a:rPr>
              <a:t>Real-Time Decision Systems: </a:t>
            </a:r>
            <a:r>
              <a:rPr lang="en-US" sz="3000" dirty="0">
                <a:latin typeface="Times New Roman" panose="02020603050405020304" pitchFamily="18" charset="0"/>
                <a:cs typeface="Times New Roman" panose="02020603050405020304" pitchFamily="18" charset="0"/>
              </a:rPr>
              <a:t>Models can be used in real-time to dynamically adjust content, pricing, or recommendations during a user session.</a:t>
            </a:r>
          </a:p>
          <a:p>
            <a:pPr algn="just"/>
            <a:r>
              <a:rPr lang="en-IN" sz="3000" b="1" dirty="0">
                <a:latin typeface="Times New Roman" panose="02020603050405020304" pitchFamily="18" charset="0"/>
                <a:cs typeface="Times New Roman" panose="02020603050405020304" pitchFamily="18" charset="0"/>
              </a:rPr>
              <a:t>Business Intelligence &amp; Strategy: </a:t>
            </a:r>
            <a:r>
              <a:rPr lang="en-US" sz="3000" dirty="0">
                <a:latin typeface="Times New Roman" panose="02020603050405020304" pitchFamily="18" charset="0"/>
                <a:cs typeface="Times New Roman" panose="02020603050405020304" pitchFamily="18" charset="0"/>
              </a:rPr>
              <a:t>Insights from the model can support data-driven decisions for product placement, promotions, and user engagement</a:t>
            </a:r>
          </a:p>
        </p:txBody>
      </p:sp>
    </p:spTree>
    <p:extLst>
      <p:ext uri="{BB962C8B-B14F-4D97-AF65-F5344CB8AC3E}">
        <p14:creationId xmlns:p14="http://schemas.microsoft.com/office/powerpoint/2010/main" val="3902710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09A9-CBA7-B83D-B306-F5725E8D9ECF}"/>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1017289-5097-2F57-F3E3-61A6172485A6}"/>
              </a:ext>
            </a:extLst>
          </p:cNvPr>
          <p:cNvSpPr>
            <a:spLocks noGrp="1"/>
          </p:cNvSpPr>
          <p:nvPr>
            <p:ph idx="1"/>
          </p:nvPr>
        </p:nvSpPr>
        <p:spPr>
          <a:xfrm>
            <a:off x="-1" y="1343819"/>
            <a:ext cx="12191999" cy="5514181"/>
          </a:xfrm>
        </p:spPr>
        <p:txBody>
          <a:bodyPr>
            <a:noAutofit/>
          </a:bodyPr>
          <a:lstStyle/>
          <a:p>
            <a:pPr algn="just"/>
            <a:r>
              <a:rPr lang="en-US" sz="3000" dirty="0">
                <a:latin typeface="Times New Roman" panose="02020603050405020304" pitchFamily="18" charset="0"/>
                <a:cs typeface="Times New Roman" panose="02020603050405020304" pitchFamily="18" charset="0"/>
              </a:rPr>
              <a:t>Rendle, S. (2010). </a:t>
            </a:r>
            <a:r>
              <a:rPr lang="en-US" sz="3000" i="1" u="sng" dirty="0">
                <a:latin typeface="Times New Roman" panose="02020603050405020304" pitchFamily="18" charset="0"/>
                <a:cs typeface="Times New Roman" panose="02020603050405020304" pitchFamily="18" charset="0"/>
              </a:rPr>
              <a:t>Factorization Machines</a:t>
            </a:r>
            <a:r>
              <a:rPr lang="en-US" sz="3000" dirty="0">
                <a:latin typeface="Times New Roman" panose="02020603050405020304" pitchFamily="18" charset="0"/>
                <a:cs typeface="Times New Roman" panose="02020603050405020304" pitchFamily="18" charset="0"/>
              </a:rPr>
              <a:t>. Proceedings of the IEEE International Conference on Data Mining (ICDM).</a:t>
            </a:r>
          </a:p>
          <a:p>
            <a:pPr algn="just"/>
            <a:r>
              <a:rPr lang="en-US" sz="3000" dirty="0">
                <a:latin typeface="Times New Roman" panose="02020603050405020304" pitchFamily="18" charset="0"/>
                <a:cs typeface="Times New Roman" panose="02020603050405020304" pitchFamily="18" charset="0"/>
              </a:rPr>
              <a:t>Guo, H., Tang, R., Ye, Y., Li, Z., &amp; He, X. (2017). </a:t>
            </a:r>
            <a:r>
              <a:rPr lang="en-US" sz="3000" i="1" u="sng" dirty="0" err="1">
                <a:latin typeface="Times New Roman" panose="02020603050405020304" pitchFamily="18" charset="0"/>
                <a:cs typeface="Times New Roman" panose="02020603050405020304" pitchFamily="18" charset="0"/>
              </a:rPr>
              <a:t>DeepFM</a:t>
            </a:r>
            <a:r>
              <a:rPr lang="en-US" sz="3000" i="1" u="sng" dirty="0">
                <a:latin typeface="Times New Roman" panose="02020603050405020304" pitchFamily="18" charset="0"/>
                <a:cs typeface="Times New Roman" panose="02020603050405020304" pitchFamily="18" charset="0"/>
              </a:rPr>
              <a:t>: A Factorization-Machine based Neural Network for CTR Prediction</a:t>
            </a:r>
            <a:r>
              <a:rPr lang="en-US" sz="3000" dirty="0">
                <a:latin typeface="Times New Roman" panose="02020603050405020304" pitchFamily="18" charset="0"/>
                <a:cs typeface="Times New Roman" panose="02020603050405020304" pitchFamily="18" charset="0"/>
              </a:rPr>
              <a:t>. IJCAI.</a:t>
            </a:r>
          </a:p>
          <a:p>
            <a:pPr algn="just"/>
            <a:r>
              <a:rPr lang="en-IN" sz="3000" dirty="0">
                <a:latin typeface="Times New Roman" panose="02020603050405020304" pitchFamily="18" charset="0"/>
                <a:cs typeface="Times New Roman" panose="02020603050405020304" pitchFamily="18" charset="0"/>
              </a:rPr>
              <a:t>Lian, J., Zhou, X., Zhang, F., Chen, Z., Xie, X., &amp; Sun, G. (2018). </a:t>
            </a:r>
            <a:r>
              <a:rPr lang="en-IN" sz="3000" i="1" u="sng" dirty="0" err="1">
                <a:latin typeface="Times New Roman" panose="02020603050405020304" pitchFamily="18" charset="0"/>
                <a:cs typeface="Times New Roman" panose="02020603050405020304" pitchFamily="18" charset="0"/>
              </a:rPr>
              <a:t>xDeepFM</a:t>
            </a:r>
            <a:r>
              <a:rPr lang="en-IN" sz="3000" i="1" u="sng" dirty="0">
                <a:latin typeface="Times New Roman" panose="02020603050405020304" pitchFamily="18" charset="0"/>
                <a:cs typeface="Times New Roman" panose="02020603050405020304" pitchFamily="18" charset="0"/>
              </a:rPr>
              <a:t>: Combining Explicit and Implicit Feature Interactions for Recommender Systems</a:t>
            </a:r>
            <a:r>
              <a:rPr lang="en-IN" sz="3000" dirty="0">
                <a:latin typeface="Times New Roman" panose="02020603050405020304" pitchFamily="18" charset="0"/>
                <a:cs typeface="Times New Roman" panose="02020603050405020304" pitchFamily="18" charset="0"/>
              </a:rPr>
              <a:t>. KDD.</a:t>
            </a:r>
          </a:p>
          <a:p>
            <a:pPr algn="just"/>
            <a:r>
              <a:rPr lang="en-IN" sz="3000" dirty="0">
                <a:latin typeface="Times New Roman" panose="02020603050405020304" pitchFamily="18" charset="0"/>
                <a:cs typeface="Times New Roman" panose="02020603050405020304" pitchFamily="18" charset="0"/>
              </a:rPr>
              <a:t>Song, W., Shi, C., Xiao, Z., Duan, Z., Xu, Y., Zhang, M., &amp; Tang, J. (2019). </a:t>
            </a:r>
            <a:r>
              <a:rPr lang="en-IN" sz="3000" i="1" u="sng" dirty="0" err="1">
                <a:latin typeface="Times New Roman" panose="02020603050405020304" pitchFamily="18" charset="0"/>
                <a:cs typeface="Times New Roman" panose="02020603050405020304" pitchFamily="18" charset="0"/>
              </a:rPr>
              <a:t>AutoInt</a:t>
            </a:r>
            <a:r>
              <a:rPr lang="en-IN" sz="3000" i="1" u="sng" dirty="0">
                <a:latin typeface="Times New Roman" panose="02020603050405020304" pitchFamily="18" charset="0"/>
                <a:cs typeface="Times New Roman" panose="02020603050405020304" pitchFamily="18" charset="0"/>
              </a:rPr>
              <a:t>: Automatic Feature Interaction Learning via Self-Attentive Neural Networks</a:t>
            </a:r>
            <a:r>
              <a:rPr lang="en-IN" sz="3000" dirty="0">
                <a:latin typeface="Times New Roman" panose="02020603050405020304" pitchFamily="18" charset="0"/>
                <a:cs typeface="Times New Roman" panose="02020603050405020304" pitchFamily="18" charset="0"/>
              </a:rPr>
              <a:t>. CIKM.</a:t>
            </a:r>
          </a:p>
        </p:txBody>
      </p:sp>
    </p:spTree>
    <p:extLst>
      <p:ext uri="{BB962C8B-B14F-4D97-AF65-F5344CB8AC3E}">
        <p14:creationId xmlns:p14="http://schemas.microsoft.com/office/powerpoint/2010/main" val="402242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FDA38-AC8F-46B0-A6E1-16E1B7F89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F8A78-FF1E-A85E-709F-6F654582A7DA}"/>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0DCF876C-DD01-914C-3F82-1E0E4A881141}"/>
              </a:ext>
            </a:extLst>
          </p:cNvPr>
          <p:cNvSpPr>
            <a:spLocks noGrp="1"/>
          </p:cNvSpPr>
          <p:nvPr>
            <p:ph idx="1"/>
          </p:nvPr>
        </p:nvSpPr>
        <p:spPr>
          <a:xfrm>
            <a:off x="-1" y="1343819"/>
            <a:ext cx="12191999" cy="5514181"/>
          </a:xfrm>
        </p:spPr>
        <p:txBody>
          <a:bodyPr>
            <a:noAutofit/>
          </a:bodyPr>
          <a:lstStyle/>
          <a:p>
            <a:pPr algn="just"/>
            <a:r>
              <a:rPr lang="en-IN" sz="3000" dirty="0">
                <a:latin typeface="Times New Roman" panose="02020603050405020304" pitchFamily="18" charset="0"/>
                <a:cs typeface="Times New Roman" panose="02020603050405020304" pitchFamily="18" charset="0"/>
              </a:rPr>
              <a:t>Chawla, N. V., Bowyer, K. W., Hall, L. O., &amp; </a:t>
            </a:r>
            <a:r>
              <a:rPr lang="en-IN" sz="3000" dirty="0" err="1">
                <a:latin typeface="Times New Roman" panose="02020603050405020304" pitchFamily="18" charset="0"/>
                <a:cs typeface="Times New Roman" panose="02020603050405020304" pitchFamily="18" charset="0"/>
              </a:rPr>
              <a:t>Kegelmeyer</a:t>
            </a:r>
            <a:r>
              <a:rPr lang="en-IN" sz="3000" dirty="0">
                <a:latin typeface="Times New Roman" panose="02020603050405020304" pitchFamily="18" charset="0"/>
                <a:cs typeface="Times New Roman" panose="02020603050405020304" pitchFamily="18" charset="0"/>
              </a:rPr>
              <a:t>, W. P. (2002). </a:t>
            </a:r>
            <a:r>
              <a:rPr lang="en-IN" sz="3000" i="1" u="sng" dirty="0">
                <a:latin typeface="Times New Roman" panose="02020603050405020304" pitchFamily="18" charset="0"/>
                <a:cs typeface="Times New Roman" panose="02020603050405020304" pitchFamily="18" charset="0"/>
              </a:rPr>
              <a:t>SMOTE: Synthetic Minority Over-sampling Technique</a:t>
            </a:r>
            <a:r>
              <a:rPr lang="en-IN" sz="3000" dirty="0">
                <a:latin typeface="Times New Roman" panose="02020603050405020304" pitchFamily="18" charset="0"/>
                <a:cs typeface="Times New Roman" panose="02020603050405020304" pitchFamily="18" charset="0"/>
              </a:rPr>
              <a:t>. Journal of Artificial Intelligence Research.</a:t>
            </a:r>
          </a:p>
          <a:p>
            <a:pPr algn="just"/>
            <a:r>
              <a:rPr lang="en-US" sz="3000" dirty="0">
                <a:latin typeface="Times New Roman" panose="02020603050405020304" pitchFamily="18" charset="0"/>
                <a:cs typeface="Times New Roman" panose="02020603050405020304" pitchFamily="18" charset="0"/>
              </a:rPr>
              <a:t>He, X., &amp; Chua, T. S. (2017). </a:t>
            </a:r>
            <a:r>
              <a:rPr lang="en-US" sz="3000" i="1" u="sng" dirty="0">
                <a:latin typeface="Times New Roman" panose="02020603050405020304" pitchFamily="18" charset="0"/>
                <a:cs typeface="Times New Roman" panose="02020603050405020304" pitchFamily="18" charset="0"/>
              </a:rPr>
              <a:t>Neural Factorization Machines for Sparse Predictive Analytics</a:t>
            </a:r>
            <a:r>
              <a:rPr lang="en-US" sz="3000" dirty="0">
                <a:latin typeface="Times New Roman" panose="02020603050405020304" pitchFamily="18" charset="0"/>
                <a:cs typeface="Times New Roman" panose="02020603050405020304" pitchFamily="18" charset="0"/>
              </a:rPr>
              <a:t>. SIGIR.</a:t>
            </a:r>
          </a:p>
          <a:p>
            <a:pPr algn="just"/>
            <a:r>
              <a:rPr lang="en-US" sz="3000" dirty="0">
                <a:latin typeface="Times New Roman" panose="02020603050405020304" pitchFamily="18" charset="0"/>
                <a:cs typeface="Times New Roman" panose="02020603050405020304" pitchFamily="18" charset="0"/>
              </a:rPr>
              <a:t>Cheng, H. T., et al. (2016). </a:t>
            </a:r>
            <a:r>
              <a:rPr lang="en-US" sz="3000" i="1" u="sng" dirty="0">
                <a:latin typeface="Times New Roman" panose="02020603050405020304" pitchFamily="18" charset="0"/>
                <a:cs typeface="Times New Roman" panose="02020603050405020304" pitchFamily="18" charset="0"/>
              </a:rPr>
              <a:t>Wide &amp; Deep Learning for Recommender Systems</a:t>
            </a:r>
            <a:r>
              <a:rPr lang="en-US" sz="3000" dirty="0">
                <a:latin typeface="Times New Roman" panose="02020603050405020304" pitchFamily="18" charset="0"/>
                <a:cs typeface="Times New Roman" panose="02020603050405020304" pitchFamily="18" charset="0"/>
              </a:rPr>
              <a:t>. ACM DL.</a:t>
            </a:r>
          </a:p>
          <a:p>
            <a:pPr algn="just"/>
            <a:r>
              <a:rPr lang="en-US" sz="3000" dirty="0">
                <a:latin typeface="Times New Roman" panose="02020603050405020304" pitchFamily="18" charset="0"/>
                <a:cs typeface="Times New Roman" panose="02020603050405020304" pitchFamily="18" charset="0"/>
              </a:rPr>
              <a:t>Zhang, W., Du, T., &amp; Wang, J. (2016). </a:t>
            </a:r>
            <a:r>
              <a:rPr lang="en-US" sz="3000" i="1" u="sng" dirty="0">
                <a:latin typeface="Times New Roman" panose="02020603050405020304" pitchFamily="18" charset="0"/>
                <a:cs typeface="Times New Roman" panose="02020603050405020304" pitchFamily="18" charset="0"/>
              </a:rPr>
              <a:t>Deep Learning over Multi-field Categorical Data</a:t>
            </a:r>
            <a:r>
              <a:rPr lang="en-US" sz="3000" dirty="0">
                <a:latin typeface="Times New Roman" panose="02020603050405020304" pitchFamily="18" charset="0"/>
                <a:cs typeface="Times New Roman" panose="02020603050405020304" pitchFamily="18" charset="0"/>
              </a:rPr>
              <a:t>. ECIR.</a:t>
            </a:r>
          </a:p>
          <a:p>
            <a:pPr algn="just"/>
            <a:r>
              <a:rPr lang="en-US" sz="3000" dirty="0">
                <a:latin typeface="Times New Roman" panose="02020603050405020304" pitchFamily="18" charset="0"/>
                <a:cs typeface="Times New Roman" panose="02020603050405020304" pitchFamily="18" charset="0"/>
              </a:rPr>
              <a:t>Juan, Y., Zhuang, Y., Chin, W. S., &amp; Lin, C. J. (2016). </a:t>
            </a:r>
            <a:r>
              <a:rPr lang="en-US" sz="3000" i="1" u="sng" dirty="0">
                <a:latin typeface="Times New Roman" panose="02020603050405020304" pitchFamily="18" charset="0"/>
                <a:cs typeface="Times New Roman" panose="02020603050405020304" pitchFamily="18" charset="0"/>
              </a:rPr>
              <a:t>Field-aware Factorization Machines for CTR Prediction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RecSys</a:t>
            </a:r>
            <a:r>
              <a:rPr lang="en-US" sz="3000" dirty="0">
                <a:latin typeface="Times New Roman" panose="02020603050405020304" pitchFamily="18" charset="0"/>
                <a:cs typeface="Times New Roman" panose="02020603050405020304" pitchFamily="18" charset="0"/>
              </a:rPr>
              <a:t>.</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630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4BD2-552C-1706-60B6-25601C0EB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C2A05-7DBB-A770-2FD6-A910DC82096B}"/>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A347673-8ED7-9E67-7F98-8F32344296A7}"/>
              </a:ext>
            </a:extLst>
          </p:cNvPr>
          <p:cNvSpPr>
            <a:spLocks noGrp="1"/>
          </p:cNvSpPr>
          <p:nvPr>
            <p:ph idx="1"/>
          </p:nvPr>
        </p:nvSpPr>
        <p:spPr>
          <a:xfrm>
            <a:off x="-1" y="1343819"/>
            <a:ext cx="12191999" cy="5514181"/>
          </a:xfrm>
        </p:spPr>
        <p:txBody>
          <a:bodyPr>
            <a:noAutofit/>
          </a:bodyPr>
          <a:lstStyle/>
          <a:p>
            <a:pPr algn="just"/>
            <a:r>
              <a:rPr lang="en-US" sz="3000" dirty="0">
                <a:latin typeface="Times New Roman" panose="02020603050405020304" pitchFamily="18" charset="0"/>
                <a:cs typeface="Times New Roman" panose="02020603050405020304" pitchFamily="18" charset="0"/>
              </a:rPr>
              <a:t>Covington, P., Adams, J., &amp; Sargin, E. (2016). </a:t>
            </a:r>
            <a:r>
              <a:rPr lang="en-US" sz="3000" i="1" u="sng" dirty="0">
                <a:latin typeface="Times New Roman" panose="02020603050405020304" pitchFamily="18" charset="0"/>
                <a:cs typeface="Times New Roman" panose="02020603050405020304" pitchFamily="18" charset="0"/>
              </a:rPr>
              <a:t>Deep Neural Networks for YouTube Recommendations</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RecSys</a:t>
            </a:r>
            <a:r>
              <a:rPr lang="en-US" sz="3000" dirty="0">
                <a:latin typeface="Times New Roman" panose="02020603050405020304" pitchFamily="18" charset="0"/>
                <a:cs typeface="Times New Roman" panose="02020603050405020304" pitchFamily="18" charset="0"/>
              </a:rPr>
              <a:t>.</a:t>
            </a:r>
          </a:p>
          <a:p>
            <a:pPr algn="just"/>
            <a:r>
              <a:rPr lang="en-US" sz="3000" dirty="0">
                <a:latin typeface="Times New Roman" panose="02020603050405020304" pitchFamily="18" charset="0"/>
                <a:cs typeface="Times New Roman" panose="02020603050405020304" pitchFamily="18" charset="0"/>
              </a:rPr>
              <a:t>Srivastava, N., et al. (2014). </a:t>
            </a:r>
            <a:r>
              <a:rPr lang="en-US" sz="3000" i="1" dirty="0">
                <a:latin typeface="Times New Roman" panose="02020603050405020304" pitchFamily="18" charset="0"/>
                <a:cs typeface="Times New Roman" panose="02020603050405020304" pitchFamily="18" charset="0"/>
              </a:rPr>
              <a:t>Dropout: </a:t>
            </a:r>
            <a:r>
              <a:rPr lang="en-US" sz="3000" i="1" u="sng" dirty="0">
                <a:latin typeface="Times New Roman" panose="02020603050405020304" pitchFamily="18" charset="0"/>
                <a:cs typeface="Times New Roman" panose="02020603050405020304" pitchFamily="18" charset="0"/>
              </a:rPr>
              <a:t>A Simple Way to Prevent Neural Networks from Overfitting</a:t>
            </a:r>
            <a:r>
              <a:rPr lang="en-US" sz="3000" dirty="0">
                <a:latin typeface="Times New Roman" panose="02020603050405020304" pitchFamily="18" charset="0"/>
                <a:cs typeface="Times New Roman" panose="02020603050405020304" pitchFamily="18" charset="0"/>
              </a:rPr>
              <a:t>. JMLR.</a:t>
            </a:r>
          </a:p>
          <a:p>
            <a:pPr algn="just"/>
            <a:r>
              <a:rPr lang="en-US" sz="3000" dirty="0">
                <a:latin typeface="Times New Roman" panose="02020603050405020304" pitchFamily="18" charset="0"/>
                <a:cs typeface="Times New Roman" panose="02020603050405020304" pitchFamily="18" charset="0"/>
              </a:rPr>
              <a:t>Kingma, D. P., &amp; Ba, J. (2015). </a:t>
            </a:r>
            <a:r>
              <a:rPr lang="en-US" sz="3000" i="1" u="sng" dirty="0">
                <a:latin typeface="Times New Roman" panose="02020603050405020304" pitchFamily="18" charset="0"/>
                <a:cs typeface="Times New Roman" panose="02020603050405020304" pitchFamily="18" charset="0"/>
              </a:rPr>
              <a:t>Adam: A Method for Stochastic Optimization</a:t>
            </a:r>
            <a:r>
              <a:rPr lang="en-US" sz="3000" dirty="0">
                <a:latin typeface="Times New Roman" panose="02020603050405020304" pitchFamily="18" charset="0"/>
                <a:cs typeface="Times New Roman" panose="02020603050405020304" pitchFamily="18" charset="0"/>
              </a:rPr>
              <a:t>. ICLR.</a:t>
            </a:r>
          </a:p>
          <a:p>
            <a:pPr algn="just"/>
            <a:r>
              <a:rPr lang="en-US" sz="3000" dirty="0">
                <a:latin typeface="Times New Roman" panose="02020603050405020304" pitchFamily="18" charset="0"/>
                <a:cs typeface="Times New Roman" panose="02020603050405020304" pitchFamily="18" charset="0"/>
              </a:rPr>
              <a:t>Pedregosa, F., et al. (2011). </a:t>
            </a:r>
            <a:r>
              <a:rPr lang="en-US" sz="3000" i="1" u="sng" dirty="0">
                <a:latin typeface="Times New Roman" panose="02020603050405020304" pitchFamily="18" charset="0"/>
                <a:cs typeface="Times New Roman" panose="02020603050405020304" pitchFamily="18" charset="0"/>
              </a:rPr>
              <a:t>Scikit-learn: Machine Learning in Python</a:t>
            </a:r>
            <a:r>
              <a:rPr lang="en-US" sz="3000" u="sng"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 JMLR.</a:t>
            </a:r>
          </a:p>
          <a:p>
            <a:pPr algn="just"/>
            <a:r>
              <a:rPr lang="en-US" sz="3000" dirty="0" err="1">
                <a:latin typeface="Times New Roman" panose="02020603050405020304" pitchFamily="18" charset="0"/>
                <a:cs typeface="Times New Roman" panose="02020603050405020304" pitchFamily="18" charset="0"/>
              </a:rPr>
              <a:t>Paszke</a:t>
            </a:r>
            <a:r>
              <a:rPr lang="en-US" sz="3000" dirty="0">
                <a:latin typeface="Times New Roman" panose="02020603050405020304" pitchFamily="18" charset="0"/>
                <a:cs typeface="Times New Roman" panose="02020603050405020304" pitchFamily="18" charset="0"/>
              </a:rPr>
              <a:t>, A., et al. (2019). </a:t>
            </a:r>
            <a:r>
              <a:rPr lang="en-US" sz="3000" i="1" u="sng" dirty="0" err="1">
                <a:latin typeface="Times New Roman" panose="02020603050405020304" pitchFamily="18" charset="0"/>
                <a:cs typeface="Times New Roman" panose="02020603050405020304" pitchFamily="18" charset="0"/>
              </a:rPr>
              <a:t>PyTorch</a:t>
            </a:r>
            <a:r>
              <a:rPr lang="en-US" sz="3000" i="1" u="sng" dirty="0">
                <a:latin typeface="Times New Roman" panose="02020603050405020304" pitchFamily="18" charset="0"/>
                <a:cs typeface="Times New Roman" panose="02020603050405020304" pitchFamily="18" charset="0"/>
              </a:rPr>
              <a:t>: An Imperative Style, High-Performance Deep Learning Library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NeurIPS</a:t>
            </a:r>
            <a:r>
              <a:rPr lang="en-US" sz="3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14538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356D-1DA3-0DAE-D63E-3EE6652EE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DCD5D-4E8C-FF34-4068-234FE5DF62C2}"/>
              </a:ext>
            </a:extLst>
          </p:cNvPr>
          <p:cNvSpPr>
            <a:spLocks noGrp="1"/>
          </p:cNvSpPr>
          <p:nvPr>
            <p:ph type="title"/>
          </p:nvPr>
        </p:nvSpPr>
        <p:spPr>
          <a:xfrm>
            <a:off x="0" y="1"/>
            <a:ext cx="12191999" cy="1343818"/>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0EF40A66-0C1E-3002-59C2-229DE42D0366}"/>
              </a:ext>
            </a:extLst>
          </p:cNvPr>
          <p:cNvSpPr>
            <a:spLocks noGrp="1"/>
          </p:cNvSpPr>
          <p:nvPr>
            <p:ph idx="1"/>
          </p:nvPr>
        </p:nvSpPr>
        <p:spPr>
          <a:xfrm>
            <a:off x="-1" y="1343819"/>
            <a:ext cx="12191999" cy="5514181"/>
          </a:xfrm>
        </p:spPr>
        <p:txBody>
          <a:bodyPr>
            <a:noAutofit/>
          </a:bodyPr>
          <a:lstStyle/>
          <a:p>
            <a:pPr algn="just"/>
            <a:r>
              <a:rPr lang="en-US" sz="3000" dirty="0">
                <a:latin typeface="Times New Roman" panose="02020603050405020304" pitchFamily="18" charset="0"/>
                <a:cs typeface="Times New Roman" panose="02020603050405020304" pitchFamily="18" charset="0"/>
              </a:rPr>
              <a:t>Dua, D., &amp; Graff, C. (2019). </a:t>
            </a:r>
            <a:r>
              <a:rPr lang="en-US" sz="3000" i="1" dirty="0">
                <a:latin typeface="Times New Roman" panose="02020603050405020304" pitchFamily="18" charset="0"/>
                <a:cs typeface="Times New Roman" panose="02020603050405020304" pitchFamily="18" charset="0"/>
              </a:rPr>
              <a:t>UCI </a:t>
            </a:r>
            <a:r>
              <a:rPr lang="en-US" sz="3000" i="1" u="sng" dirty="0">
                <a:latin typeface="Times New Roman" panose="02020603050405020304" pitchFamily="18" charset="0"/>
                <a:cs typeface="Times New Roman" panose="02020603050405020304" pitchFamily="18" charset="0"/>
              </a:rPr>
              <a:t>Machine Learning Repository: Online Shoppers Purchasing Intention Dataset</a:t>
            </a:r>
            <a:r>
              <a:rPr lang="en-US" sz="3000" dirty="0">
                <a:latin typeface="Times New Roman" panose="02020603050405020304" pitchFamily="18" charset="0"/>
                <a:cs typeface="Times New Roman" panose="02020603050405020304" pitchFamily="18" charset="0"/>
              </a:rPr>
              <a:t>. University of California, Irvine.</a:t>
            </a:r>
          </a:p>
          <a:p>
            <a:pPr algn="just"/>
            <a:r>
              <a:rPr lang="en-US" sz="3000" dirty="0">
                <a:latin typeface="Times New Roman" panose="02020603050405020304" pitchFamily="18" charset="0"/>
                <a:cs typeface="Times New Roman" panose="02020603050405020304" pitchFamily="18" charset="0"/>
              </a:rPr>
              <a:t>Aggarwal, C. C. (2016). </a:t>
            </a:r>
            <a:r>
              <a:rPr lang="en-US" sz="3000" i="1" u="sng" dirty="0">
                <a:latin typeface="Times New Roman" panose="02020603050405020304" pitchFamily="18" charset="0"/>
                <a:cs typeface="Times New Roman" panose="02020603050405020304" pitchFamily="18" charset="0"/>
              </a:rPr>
              <a:t>Recommender Systems: The Textbook</a:t>
            </a:r>
            <a:r>
              <a:rPr lang="en-US" sz="3000" dirty="0">
                <a:latin typeface="Times New Roman" panose="02020603050405020304" pitchFamily="18" charset="0"/>
                <a:cs typeface="Times New Roman" panose="02020603050405020304" pitchFamily="18" charset="0"/>
              </a:rPr>
              <a:t>. Springer.</a:t>
            </a:r>
          </a:p>
        </p:txBody>
      </p:sp>
    </p:spTree>
    <p:extLst>
      <p:ext uri="{BB962C8B-B14F-4D97-AF65-F5344CB8AC3E}">
        <p14:creationId xmlns:p14="http://schemas.microsoft.com/office/powerpoint/2010/main" val="3155292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2285</Words>
  <Application>Microsoft Office PowerPoint</Application>
  <PresentationFormat>Widescreen</PresentationFormat>
  <Paragraphs>213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Acharya Dhairya Bharat (AIML 01) Enrollment No.: Patel Prachi Vinodbhai (DS 29) Enrollment No.:  Under the guidance of Prof. Dr. Vaidehi Mehta Submitted to</vt:lpstr>
      <vt:lpstr>Bivariate–Multivariate Hybrid Models for Purchase Intent Prediction</vt:lpstr>
      <vt:lpstr>Abstract</vt:lpstr>
      <vt:lpstr>Keywords</vt:lpstr>
      <vt:lpstr>Introduction</vt:lpstr>
      <vt:lpstr>Introduction</vt:lpstr>
      <vt:lpstr>Objective</vt:lpstr>
      <vt:lpstr>Objective</vt:lpstr>
      <vt:lpstr>Literature Review</vt:lpstr>
      <vt:lpstr>Literature Review</vt:lpstr>
      <vt:lpstr>Data Description</vt:lpstr>
      <vt:lpstr>Data Description</vt:lpstr>
      <vt:lpstr>Data Description</vt:lpstr>
      <vt:lpstr>Methodology</vt:lpstr>
      <vt:lpstr>Methodology</vt:lpstr>
      <vt:lpstr>Methodology</vt:lpstr>
      <vt:lpstr>Methodology</vt:lpstr>
      <vt:lpstr>Results And Performance Analysis</vt:lpstr>
      <vt:lpstr>Results And Performance Analysis</vt:lpstr>
      <vt:lpstr>Conclusion</vt:lpstr>
      <vt:lpstr>Key Findings</vt:lpstr>
      <vt:lpstr>Limitations</vt:lpstr>
      <vt:lpstr>Applications</vt:lpstr>
      <vt:lpstr>Applications</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Dhriea Bharat</dc:creator>
  <cp:lastModifiedBy>Dhriea Bharat</cp:lastModifiedBy>
  <cp:revision>2</cp:revision>
  <dcterms:created xsi:type="dcterms:W3CDTF">2026-03-23T20:32:33Z</dcterms:created>
  <dcterms:modified xsi:type="dcterms:W3CDTF">2026-03-24T00:29:19Z</dcterms:modified>
</cp:coreProperties>
</file>